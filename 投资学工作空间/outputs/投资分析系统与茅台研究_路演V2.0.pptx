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7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8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7e0c43f7a942a7" /><Relationship Type="http://schemas.openxmlformats.org/officeDocument/2006/relationships/extended-properties" Target="/docProps/app.xml" Id="R6748a03cfe2646ac" /><Relationship Type="http://schemas.openxmlformats.org/officeDocument/2006/relationships/officeDocument" Target="/ppt/presentation.xml" Id="R07ac31ae95214b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f6475fae714607"/>
  </p:sldMasterIdLst>
  <p:notesMasterIdLst>
    <p:notesMasterId xmlns:r="http://schemas.openxmlformats.org/officeDocument/2006/relationships" r:id="R72476ee1c6c545fd"/>
  </p:notesMasterIdLst>
  <p:sldIdLst>
    <p:sldId xmlns:r="http://schemas.openxmlformats.org/officeDocument/2006/relationships" id="256" r:id="Rf95cdca2d79f4dae"/>
    <p:sldId xmlns:r="http://schemas.openxmlformats.org/officeDocument/2006/relationships" id="257" r:id="R5a92541870794d8d"/>
    <p:sldId xmlns:r="http://schemas.openxmlformats.org/officeDocument/2006/relationships" id="258" r:id="Rd89d0d69d13d4b63"/>
    <p:sldId xmlns:r="http://schemas.openxmlformats.org/officeDocument/2006/relationships" id="259" r:id="R5d3af9a495be4de8"/>
    <p:sldId xmlns:r="http://schemas.openxmlformats.org/officeDocument/2006/relationships" id="260" r:id="Rd23843f03fc04a54"/>
    <p:sldId xmlns:r="http://schemas.openxmlformats.org/officeDocument/2006/relationships" id="261" r:id="R8c97b071cfcb425c"/>
    <p:sldId xmlns:r="http://schemas.openxmlformats.org/officeDocument/2006/relationships" id="262" r:id="R916d55531b944094"/>
    <p:sldId xmlns:r="http://schemas.openxmlformats.org/officeDocument/2006/relationships" id="263" r:id="R20889efb51ec4ff2"/>
    <p:sldId xmlns:r="http://schemas.openxmlformats.org/officeDocument/2006/relationships" id="264" r:id="R7e5773eb186d497c"/>
    <p:sldId xmlns:r="http://schemas.openxmlformats.org/officeDocument/2006/relationships" id="265" r:id="R252d5ce836d54623"/>
    <p:sldId xmlns:r="http://schemas.openxmlformats.org/officeDocument/2006/relationships" id="266" r:id="R8badf06684304ce4"/>
    <p:sldId xmlns:r="http://schemas.openxmlformats.org/officeDocument/2006/relationships" id="267" r:id="R56b15b0ab3bb44fb"/>
    <p:sldId xmlns:r="http://schemas.openxmlformats.org/officeDocument/2006/relationships" id="268" r:id="Rd2b16aae253c4c02"/>
    <p:sldId xmlns:r="http://schemas.openxmlformats.org/officeDocument/2006/relationships" id="269" r:id="Rff7e5e2ae18249a0"/>
    <p:sldId xmlns:r="http://schemas.openxmlformats.org/officeDocument/2006/relationships" id="270" r:id="R609a65a527374fa9"/>
    <p:sldId xmlns:r="http://schemas.openxmlformats.org/officeDocument/2006/relationships" id="271" r:id="R0b3a8c4c52cf4d80"/>
    <p:sldId xmlns:r="http://schemas.openxmlformats.org/officeDocument/2006/relationships" id="272" r:id="R8412093764784cc3"/>
    <p:sldId xmlns:r="http://schemas.openxmlformats.org/officeDocument/2006/relationships" id="273" r:id="Rd806a9de83a240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a976e911bf4a0e" /><Relationship Type="http://schemas.openxmlformats.org/officeDocument/2006/relationships/slideMaster" Target="/ppt/slideMasters/slideMaster1.xml" Id="Rb0f6475fae714607" /><Relationship Type="http://schemas.openxmlformats.org/officeDocument/2006/relationships/notesMaster" Target="/ppt/notesMasters/notesMaster1.xml" Id="R72476ee1c6c545fd" /><Relationship Type="http://schemas.openxmlformats.org/officeDocument/2006/relationships/presProps" Target="/ppt/presProps.xml" Id="R4a69ec31d6334a6c" /><Relationship Type="http://schemas.openxmlformats.org/officeDocument/2006/relationships/tableStyles" Target="/ppt/tableStyles.xml" Id="R56238c981b2e4428" /><Relationship Type="http://schemas.openxmlformats.org/officeDocument/2006/relationships/slide" Target="/ppt/slides/slide1.xml" Id="Rf95cdca2d79f4dae" /><Relationship Type="http://schemas.openxmlformats.org/officeDocument/2006/relationships/slide" Target="/ppt/slides/slide2.xml" Id="R5a92541870794d8d" /><Relationship Type="http://schemas.openxmlformats.org/officeDocument/2006/relationships/slide" Target="/ppt/slides/slide3.xml" Id="Rd89d0d69d13d4b63" /><Relationship Type="http://schemas.openxmlformats.org/officeDocument/2006/relationships/slide" Target="/ppt/slides/slide4.xml" Id="R5d3af9a495be4de8" /><Relationship Type="http://schemas.openxmlformats.org/officeDocument/2006/relationships/slide" Target="/ppt/slides/slide5.xml" Id="Rd23843f03fc04a54" /><Relationship Type="http://schemas.openxmlformats.org/officeDocument/2006/relationships/slide" Target="/ppt/slides/slide6.xml" Id="R8c97b071cfcb425c" /><Relationship Type="http://schemas.openxmlformats.org/officeDocument/2006/relationships/slide" Target="/ppt/slides/slide7.xml" Id="R916d55531b944094" /><Relationship Type="http://schemas.openxmlformats.org/officeDocument/2006/relationships/slide" Target="/ppt/slides/slide8.xml" Id="R20889efb51ec4ff2" /><Relationship Type="http://schemas.openxmlformats.org/officeDocument/2006/relationships/slide" Target="/ppt/slides/slide9.xml" Id="R7e5773eb186d497c" /><Relationship Type="http://schemas.openxmlformats.org/officeDocument/2006/relationships/slide" Target="/ppt/slides/slide10.xml" Id="R252d5ce836d54623" /><Relationship Type="http://schemas.openxmlformats.org/officeDocument/2006/relationships/slide" Target="/ppt/slides/slide11.xml" Id="R8badf06684304ce4" /><Relationship Type="http://schemas.openxmlformats.org/officeDocument/2006/relationships/slide" Target="/ppt/slides/slide12.xml" Id="R56b15b0ab3bb44fb" /><Relationship Type="http://schemas.openxmlformats.org/officeDocument/2006/relationships/slide" Target="/ppt/slides/slide13.xml" Id="Rd2b16aae253c4c02" /><Relationship Type="http://schemas.openxmlformats.org/officeDocument/2006/relationships/slide" Target="/ppt/slides/slide14.xml" Id="Rff7e5e2ae18249a0" /><Relationship Type="http://schemas.openxmlformats.org/officeDocument/2006/relationships/slide" Target="/ppt/slides/slide15.xml" Id="R609a65a527374fa9" /><Relationship Type="http://schemas.openxmlformats.org/officeDocument/2006/relationships/slide" Target="/ppt/slides/slide16.xml" Id="R0b3a8c4c52cf4d80" /><Relationship Type="http://schemas.openxmlformats.org/officeDocument/2006/relationships/slide" Target="/ppt/slides/slide17.xml" Id="R8412093764784cc3" /><Relationship Type="http://schemas.openxmlformats.org/officeDocument/2006/relationships/slide" Target="/ppt/slides/slide18.xml" Id="Rd806a9de83a240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117bef686249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f71a5be36f48af" /><Relationship Type="http://schemas.openxmlformats.org/officeDocument/2006/relationships/notesMaster" Target="/ppt/notesMasters/notesMaster1.xml" Id="R04581839eeec42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e97725aecf437e" /><Relationship Type="http://schemas.openxmlformats.org/officeDocument/2006/relationships/notesMaster" Target="/ppt/notesMasters/notesMaster1.xml" Id="Rb52b933458c342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c47b6e7c6b416e" /><Relationship Type="http://schemas.openxmlformats.org/officeDocument/2006/relationships/notesMaster" Target="/ppt/notesMasters/notesMaster1.xml" Id="Rbd7a065f5cb148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0a043f085b436f" /><Relationship Type="http://schemas.openxmlformats.org/officeDocument/2006/relationships/notesMaster" Target="/ppt/notesMasters/notesMaster1.xml" Id="Rfff3a6413a5146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bcbb23adb24d6a" /><Relationship Type="http://schemas.openxmlformats.org/officeDocument/2006/relationships/notesMaster" Target="/ppt/notesMasters/notesMaster1.xml" Id="R7e279933622347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8a65629d814843" /><Relationship Type="http://schemas.openxmlformats.org/officeDocument/2006/relationships/notesMaster" Target="/ppt/notesMasters/notesMaster1.xml" Id="R0594ccfaae2148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a7a64e2c5c4a6a" /><Relationship Type="http://schemas.openxmlformats.org/officeDocument/2006/relationships/notesMaster" Target="/ppt/notesMasters/notesMaster1.xml" Id="Raef990ee9f8c4e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765aeaa63b400d" /><Relationship Type="http://schemas.openxmlformats.org/officeDocument/2006/relationships/notesMaster" Target="/ppt/notesMasters/notesMaster1.xml" Id="R350b3ba71a674d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f94b4869cd4a49" /><Relationship Type="http://schemas.openxmlformats.org/officeDocument/2006/relationships/notesMaster" Target="/ppt/notesMasters/notesMaster1.xml" Id="Rb4b7cc9d52da4b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6ae31491374b87" /><Relationship Type="http://schemas.openxmlformats.org/officeDocument/2006/relationships/notesMaster" Target="/ppt/notesMasters/notesMaster1.xml" Id="Raf1d3b85da8943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0b07356a554903" /><Relationship Type="http://schemas.openxmlformats.org/officeDocument/2006/relationships/notesMaster" Target="/ppt/notesMasters/notesMaster1.xml" Id="R58c066b67b1744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8096de99384e9d" /><Relationship Type="http://schemas.openxmlformats.org/officeDocument/2006/relationships/notesMaster" Target="/ppt/notesMasters/notesMaster1.xml" Id="R2be60860b6d348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702c7eead74780" /><Relationship Type="http://schemas.openxmlformats.org/officeDocument/2006/relationships/notesMaster" Target="/ppt/notesMasters/notesMaster1.xml" Id="Rb53c24a2026d49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469fda11e04928" /><Relationship Type="http://schemas.openxmlformats.org/officeDocument/2006/relationships/notesMaster" Target="/ppt/notesMasters/notesMaster1.xml" Id="R06fe6d31681b41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7b0d746c114445f" /><Relationship Type="http://schemas.openxmlformats.org/officeDocument/2006/relationships/notesMaster" Target="/ppt/notesMasters/notesMaster1.xml" Id="R574101558cb344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a77e1c1a204e8e" /><Relationship Type="http://schemas.openxmlformats.org/officeDocument/2006/relationships/notesMaster" Target="/ppt/notesMasters/notesMaster1.xml" Id="Rf7cd214525a840e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b160a3a93848d9" /><Relationship Type="http://schemas.openxmlformats.org/officeDocument/2006/relationships/notesMaster" Target="/ppt/notesMasters/notesMaster1.xml" Id="R2c07696a2e3b45b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340a7e119c4a95" /><Relationship Type="http://schemas.openxmlformats.org/officeDocument/2006/relationships/notesMaster" Target="/ppt/notesMasters/notesMaster1.xml" Id="R4727d4b1ae2642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。今天汇报两件相互连接的工作：一是我们怎样建立一套人机协同的公司研究系统，二是用这套系统，我们对贵州茅台得到了什么认识。请先记住一句话：好的研究要把判断讲清，也要让别人知道这个判断靠什么、什么情况下需要修改。今天展示的公司数据来自本项目已核年报与明确标识的补充材料；新解释和未来情景没有自动继承旧版本的人工认可。我们会从一瓶酒怎样赚钱讲起，最后回到系统怎样帮助下一家公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本页依据：outputs/证券投资分析研究图册_V2.0.html，对应章节和[E编号]来源批注；当前来源由ReviewStore及validate_current校验。</a:t>
            </a:r>
          </a:p>
          <a:p xmlns:a="http://schemas.openxmlformats.org/drawingml/2006/main">
            <a:r>
              <a:t>主实证2020—2024，2025为独立后验和新预测基期；没有本轮新人工采纳或签署。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第一次接触茅台，可以把经营看成一个需要等待的过程。公司先投入原料、生产和储存，之后勾兑包装，通过经销与直销完成交付。卖出之后，还要付税费、销售等费用，并收回现金，再决定下一轮投入。这里特别容易跳过两座桥：储存形成产品，不等于客户一定购买；公司确认毛利，也不等于股东已经拿到可以自由支配的钱。我们把价值创造、价值交付和价值获取连起来，正是为了沿着这些桥逐步取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本页依据：outputs/证券投资分析研究图册_V2.0.html，对应章节和[E编号]来源批注；当前来源由ReviewStore及validate_current校验。</a:t>
            </a:r>
          </a:p>
          <a:p xmlns:a="http://schemas.openxmlformats.org/drawingml/2006/main">
            <a:r>
              <a:t>主实证2020—2024，2025为独立后验和新预测基期；没有本轮新人工采纳或签署。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合同并不是彼此独立的十份作业。第一次解决在哪里找到数，第二次解决如何整理，第三次解决数能用于什么，第四次才确认到底变了多少。第五次把这些能力重新用到收入、成本、资本与现金上；生产库存、渠道和现金三条延伸分别补上时间、收益归属与资金回收。第六次问优势在什么市场里成立，第七次要求把管理层的话改成能够被证伪的命题。原第五次存在并行版本，第六七又有新版，所以我们分别记录版本与验收，不能看见文件就宣布所有合同关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本页依据：outputs/证券投资分析研究图册_V2.0.html，对应章节和[E编号]来源批注；当前来源由ReviewStore及validate_current校验。</a:t>
            </a:r>
          </a:p>
          <a:p xmlns:a="http://schemas.openxmlformats.org/drawingml/2006/main">
            <a:r>
              <a:t>主实证2020—2024，2025为独立后验和新预测基期；没有本轮新人工采纳或签署。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事实链从原始PDF开始，记录版本、页码、表格、期间、单位和主体，再区分提取候选与真实确认。此次重新调用事实接口，原披露域144条保持有效，其他域也通过当前来源校验。不同域可能指向同一披露，不能把它们简单相加。机器定位和原件对读另有身份，不能冒充人工确认。为降低合作成本，我们按同来源和同口径集中展示，只核缺失的新内容；同时把原数核验、用途裁决、研究意见和正式签署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本页依据：outputs/证券投资分析研究图册_V2.0.html，对应章节和[E编号]来源批注；当前来源由ReviewStore及validate_current校验。</a:t>
            </a:r>
          </a:p>
          <a:p xmlns:a="http://schemas.openxmlformats.org/drawingml/2006/main">
            <a:r>
              <a:t>主实证2020—2024，2025为独立后验和新预测基期；没有本轮新人工采纳或签署。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2024增长本身已经有独立变化确认。但我们继续问，增长到底由什么带来？茅台酒产品组的销量增长和组合ASP变化共同作用，说明不能只讲提价或品牌增强。这里的ASP是产品组匹配收入除销量，会受规格、产品和渠道组合影响。再看2025，公司营业收入略降，这并没有抹去过去的成功，却改变了本次新预测的起点。我们的历史主实证保持在2020至2024，2025独立作为后验观察与新预测基期，不把后来知道的事写成过去已经知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本页依据：outputs/证券投资分析研究图册_V2.0.html，对应章节和[E编号]来源批注；当前来源由ReviewStore及validate_current校验。</a:t>
            </a:r>
          </a:p>
          <a:p xmlns:a="http://schemas.openxmlformats.org/drawingml/2006/main">
            <a:r>
              <a:t>主实证2020—2024，2025为独立后验和新预测基期；没有本轮新人工采纳或签署。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把四项变化放在一起。公司出货略增，收入略降，成品库存增幅更大，合并经营现金则明显下降。我们不能把它们相加，也不能画一条箭头就宣布终端需求下滑。成品增加也可能来自主动备货，现金还受到财务公司影响。但这些分化已经足以改变研究优先级：比起再问能生产多少，更需要问已经形成的供给由谁承接，以什么组合价格、多少销售代价和什么回款节奏承接。这就是接下来三条支线的共同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本页依据：outputs/证券投资分析研究图册_V2.0.html，对应章节和[E编号]来源批注；当前来源由ReviewStore及validate_current校验。</a:t>
            </a:r>
          </a:p>
          <a:p xmlns:a="http://schemas.openxmlformats.org/drawingml/2006/main">
            <a:r>
              <a:t>主实证2020—2024，2025为独立后验和新预测基期；没有本轮新人工采纳或签署。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产库存合同让我们识别了时间资本。大量库存仍是半成品，支持增长需要提前安排的判断。不过，参考材料里把某年产量当作五年后销量天花板的说法，我们没有直接采用。跨年勾兑、不同等级、损耗以及库存释放都会影响最终销售。一个生产年的酒不只进入一个销售年，一个销售年也会使用多个生产年份。相关系数很高同样可能来自共同趋势。因此预测中历史产量可以提供供给参考，销量仍要由可售安排与客户承接共同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本页依据：outputs/证券投资分析研究图册_V2.0.html，对应章节和[E编号]来源批注；当前来源由ReviewStore及validate_current校验。</a:t>
            </a:r>
          </a:p>
          <a:p xmlns:a="http://schemas.openxmlformats.org/drawingml/2006/main">
            <a:r>
              <a:t>主实证2020—2024，2025为独立后验和新预测基期；没有本轮新人工采纳或签署。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销份额上升确实改变了公司确认毛利的位置。为了看清它的作用，我们把渠道加权毛利率变化做了中点分解。结构迁移带来正向算术贡献，但渠道内部毛利率变化更大，合计结果反而下降。这说明，只看直销占比就预测利润率上升，会漏掉关键驱动。这些效应是恒等式中的分解，不是随机试验识别的因果。再往下，还缺可归属的费用、履约、回款和库存，因此我们可以判断毛利层发生了什么，净贡献方向继续保持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本页依据：outputs/证券投资分析研究图册_V2.0.html，对应章节和[E编号]来源批注；当前来源由ReviewStore及validate_current校验。</a:t>
            </a:r>
          </a:p>
          <a:p xmlns:a="http://schemas.openxmlformats.org/drawingml/2006/main">
            <a:r>
              <a:t>主实证2020—2024，2025为独立后验和新预测基期；没有本轮新人工采纳或签署。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成品给了我们一个很好的提示：不要把线上平台、直销渠道和新增需求当成同一个变量。i茅台已经包含在直销中，不能相加。2023到2025，平台占直销收入的比例下降，而其余直销收入差额扩大。这个差额只是直销总额减平台收入，不能全称线下自营，也不能证明新增消费者。下一步最有价值的材料，是其余直销到底由哪些路径、哪些产品与投放安排承接，以及相应服务和销售责任由谁承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本页依据：outputs/证券投资分析研究图册_V2.0.html，对应章节和[E编号]来源批注；当前来源由ReviewStore及validate_current校验。</a:t>
            </a:r>
          </a:p>
          <a:p xmlns:a="http://schemas.openxmlformats.org/drawingml/2006/main">
            <a:r>
              <a:t>主实证2020—2024，2025为独立后验和新预测基期；没有本轮新人工采纳或签署。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十年累计现金转换约94.14%，支持多年利润有较大合并现金支撑，但年度比率并不恒定。2025现金下降快于利润，需要回到调节表和金融业务范围，不能全部解释成白酒需求。我们也保留了一个重要修正：财务公司2012已经首次进入合并范围，2013是正式营业。另一个常见误区是把CFO减购建支出叫自由现金流。缺少完整实体范围、其他资本投入和成熟再投资映射时，这只能是算术余量；从CFO出发再扣同一营运资本变化还会重复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本页依据：outputs/证券投资分析研究图册_V2.0.html，对应章节和[E编号]来源批注；当前来源由ReviewStore及validate_current校验。</a:t>
            </a:r>
          </a:p>
          <a:p xmlns:a="http://schemas.openxmlformats.org/drawingml/2006/main">
            <a:r>
              <a:t>主实证2020—2024，2025为独立后验和新预测基期；没有本轮新人工采纳或签署。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没有因为缺少独立因果就拒绝提出判断。品牌与时间资本是有解释力的候选机制，可以解释为什么公司可能获得较高单位收入和毛利。但五项能力标签不能打包通过。管理层说过什么，与这些能力今天还能换回多少经济收益，是两种不同主张。附件同业比较和历史京东挂牌价有研究价值，也保留其样本身份：没有同业原PDF，不能称已核全行业排名；旧挂牌不能称当前成交。下一步需要能区分品牌、组合、供给与渠道解释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本页依据：outputs/证券投资分析研究图册_V2.0.html，对应章节和[E编号]来源批注；当前来源由ReviewStore及validate_current校验。</a:t>
            </a:r>
          </a:p>
          <a:p xmlns:a="http://schemas.openxmlformats.org/drawingml/2006/main">
            <a:r>
              <a:t>主实证2020—2024，2025为独立后验和新预测基期；没有本轮新人工采纳或签署。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这些研究连起来，我的优先工作判断是，公司仍有能够产生高毛利的产品与供给积累，但下一阶段更需要看这些积累能否转成合适价格的销售，并覆盖新增代价。它不是品牌突然失效的二元结论，也不是优势会自动永续。主动调节投放和备货、产品结构变化都可能解释部分现象。正因为还有竞争解释，我们选择把判断写成可改判的条件：看组合ASP、公司出货、成品相对出货和费用效率是否重新协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本页依据：outputs/证券投资分析研究图册_V2.0.html，对应章节和[E编号]来源批注；当前来源由ReviewStore及validate_current校验。</a:t>
            </a:r>
          </a:p>
          <a:p xmlns:a="http://schemas.openxmlformats.org/drawingml/2006/main">
            <a:r>
              <a:t>主实证2020—2024，2025为独立后验和新预测基期；没有本轮新人工采纳或签署。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测不是给故事配一条向上的曲线。基准情景先让销量温和变化、组合价格继续承压，再假设后两年逐步恢复。具体1%或负2%是研究设定，不是统计识别的事实。利润采用基期合并净利润加增量毛利减增量销售费用，再保留60%的简化桥；60%不是已核税率。现金以设定合并转换率做敏感性。我们公开这些简化，是为了让大家能讨论哪项假设最不合理，以及新材料到来后该替换哪个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本页依据：work/research-atlas-v2-20261025/report-spec.json 的forecast与forecast_results；全部未来量为Forecast。</a:t>
            </a:r>
          </a:p>
          <a:p xmlns:a="http://schemas.openxmlformats.org/drawingml/2006/main">
            <a:r>
              <a:t>主实证2020—2024，2025为独立后验和新预测基期；没有本轮新人工采纳或签署。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展示相同模型在不同条件下的结果。压力情景意味着量价承接更弱、费用负担更重；基准意味着先消化后温和恢复；修复则要求量价和效率共同改善。2026收入从压力到修复约1531.1到1792.6亿元。基准约1664.5亿元，到2028约1768.3亿元。大家可以在图册里调整首年销量、组合ASP和费用率，观察结果怎样改变。我们没有统计依据给这些情景分配概率，也没有在缺少证券价格、资本结构和折现参数时输出目标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本页依据：work/research-atlas-v2-20261025/report-spec.json 的forecast与forecast_results；全部未来量为Forecast。</a:t>
            </a:r>
          </a:p>
          <a:p xmlns:a="http://schemas.openxmlformats.org/drawingml/2006/main">
            <a:r>
              <a:t>主实证2020—2024，2025为独立后验和新预测基期；没有本轮新人工采纳或签署。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起讨论一个孤立增长率，这个门槛更能暴露模型要求。量增1%时，价格最多只能下降约0.99%，收入才能持平。基准假设ASP下降2%，所以这点销量增长还不够。ASP变1%的收入敏感度约14.65亿元，销售费用率上升1个百分点的费用敏感度约16.88亿元；这些是沿2025基数计算，其他变量保持不变。它们不是未来价格预测。复盘时我们先找究竟是量、价、组合还是费用偏离，再决定修改哪段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本页依据：outputs/证券投资分析研究图册_V2.0.html，对应章节和[E编号]来源批注；当前来源由ReviewStore及validate_current校验。</a:t>
            </a:r>
          </a:p>
          <a:p xmlns:a="http://schemas.openxmlformats.org/drawingml/2006/main">
            <a:r>
              <a:t>主实证2020—2024，2025为独立后验和新预测基期；没有本轮新人工采纳或签署。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我们把经验注入通用工作台：新增项目自动带可编辑的研究起步台，用户先填研究问题、时点、关键变化和证据缺口，再把简报交给Agent。完整技能把报告表达、确认逻辑、行业迁移与路演交付接到原有事实和计算工具上。跨公司复制的是方法，不是茅台的高毛利、增长假设或代理核准权限。工业要换成订单和交付，订阅要看客户和留存，金融要重新定义利差、信用与资本约束。这样才是可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本页依据：outputs/证券投资分析研究图册_V2.0.html，对应章节和[E编号]来源批注；当前来源由ReviewStore及validate_current校验。</a:t>
            </a:r>
          </a:p>
          <a:p xmlns:a="http://schemas.openxmlformats.org/drawingml/2006/main">
            <a:r>
              <a:t>主实证2020—2024，2025为独立后验和新预测基期；没有本轮新人工采纳或签署。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过去流程的障碍很具体：核验过细导致反复问答，摘要过长导致接手者重读，图册很完整但读者不容易抓住答案，历史认可又容易被误解为新版本认可。改进对应这些真实问题。我们让事实批次一次展示，把口径、机制和签署分开；报告用三道考试和每章白话提示降低阅读门槛；CURRENT只保留入口和下一问题。效率的标准不是少留记录，而是让用户少做重复操作，把精力用在区分解释和调整假设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本页依据：outputs/证券投资分析研究图册_V2.0.html，对应章节和[E编号]来源批注；当前来源由ReviewStore及validate_current校验。</a:t>
            </a:r>
          </a:p>
          <a:p xmlns:a="http://schemas.openxmlformats.org/drawingml/2006/main">
            <a:r>
              <a:t>主实证2020—2024，2025为独立后验和新预测基期；没有本轮新人工采纳或签署。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回到我们已经完成与仍需继续的工作。系统已经能保留事实来源、真实修正和确认历史，把合同成果连成经营解释，并给出可讨论的条件预测。下一轮最值得补的是三座桥：成熟供给怎样转成销售，渠道毛利怎样转成净贡献，以及合并利润现金怎样映射到实体业务与股东。只有补齐相应范围与证券价格条件后，才进一步讨论正式现金流估值和价格隐含预期。今天的全部图册、任务地图、讲稿和通用技能都能离线查阅，任何人都可以从结论回到依据，并指出哪项条件需要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本页依据：outputs/证券投资分析研究图册_V2.0.html，对应章节和[E编号]来源批注；当前来源由ReviewStore及validate_current校验。</a:t>
            </a:r>
          </a:p>
          <a:p xmlns:a="http://schemas.openxmlformats.org/drawingml/2006/main">
            <a:r>
              <a:t>主实证2020—2024，2025为独立后验和新预测基期；没有本轮新人工采纳或签署。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0550d4dc1f45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711bfedc540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96e1e6be044e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62c53c040e44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bd7b1ede024f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34bb4d6bf4a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6C31F6-ED43-4B4C-8F2A-5E794485CD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34AB97-5A40-44F6-946F-9C4723C701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A249AEC-9AED-475C-AB8A-8B74BEFAD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D4B70A-AFAB-4990-8D68-3707CD6D82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AE9093-CD4C-47D4-BC35-F40A64FE2E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5F0EB4-CD8C-428C-8F41-DCB744AD8F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2BB3C7-3053-4190-BA7C-DBA3D4E946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E9BCD09-0D70-4334-8AEF-AA4BC2E325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C02608-C1FE-4C62-88A2-53FF0B5A21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FF73BC-1587-4BCB-83FC-7FA16B5E79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f2c79da9fd49d1" /><Relationship Type="http://schemas.openxmlformats.org/officeDocument/2006/relationships/slideLayout" Target="/ppt/slideLayouts/slideLayout1.xml" Id="Rb3aef85b88ec4d06" /><Relationship Type="http://schemas.openxmlformats.org/officeDocument/2006/relationships/slideLayout" Target="/ppt/slideLayouts/slideLayout2.xml" Id="Rcc2a3c2f2a684753" /><Relationship Type="http://schemas.openxmlformats.org/officeDocument/2006/relationships/slideLayout" Target="/ppt/slideLayouts/slideLayout3.xml" Id="R7cd2f9062589440f" /><Relationship Type="http://schemas.openxmlformats.org/officeDocument/2006/relationships/slideLayout" Target="/ppt/slideLayouts/slideLayout4.xml" Id="Rfee4bdb9ab774560" /><Relationship Type="http://schemas.openxmlformats.org/officeDocument/2006/relationships/slideLayout" Target="/ppt/slideLayouts/slideLayout5.xml" Id="R57d06d51d85e4245" /><Relationship Type="http://schemas.openxmlformats.org/officeDocument/2006/relationships/slideLayout" Target="/ppt/slideLayouts/slideLayout6.xml" Id="Rd5fae71bf81840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aef85b88ec4d06"/>
    <p:sldLayoutId xmlns:r="http://schemas.openxmlformats.org/officeDocument/2006/relationships" id="2147483650" r:id="Rcc2a3c2f2a684753"/>
    <p:sldLayoutId xmlns:r="http://schemas.openxmlformats.org/officeDocument/2006/relationships" id="2147483651" r:id="R7cd2f9062589440f"/>
    <p:sldLayoutId xmlns:r="http://schemas.openxmlformats.org/officeDocument/2006/relationships" id="2147483652" r:id="Rfee4bdb9ab774560"/>
    <p:sldLayoutId xmlns:r="http://schemas.openxmlformats.org/officeDocument/2006/relationships" id="2147483653" r:id="R57d06d51d85e4245"/>
    <p:sldLayoutId xmlns:r="http://schemas.openxmlformats.org/officeDocument/2006/relationships" id="2147483654" r:id="Rd5fae71bf81840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e53fe2215a473b" /><Relationship Type="http://schemas.openxmlformats.org/officeDocument/2006/relationships/notesSlide" Target="/ppt/notesSlides/notesSlide1.xml" Id="Rd14438cfbc944d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4476dbe4cb41f0" /><Relationship Type="http://schemas.openxmlformats.org/officeDocument/2006/relationships/notesSlide" Target="/ppt/notesSlides/notesSlide2.xml" Id="Rcaf8b3fe9ced47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1594fd5ba74be3" /><Relationship Type="http://schemas.openxmlformats.org/officeDocument/2006/relationships/notesSlide" Target="/ppt/notesSlides/notesSlide3.xml" Id="R8442786b4eb14b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30cfdd9e084223" /><Relationship Type="http://schemas.openxmlformats.org/officeDocument/2006/relationships/notesSlide" Target="/ppt/notesSlides/notesSlide4.xml" Id="Rd1498971a77f45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c038065dce4dbd" /><Relationship Type="http://schemas.openxmlformats.org/officeDocument/2006/relationships/chart" Target="/ppt/slides/charts/chart1.xml" Id="R95a414cfeb0b4b8d" /><Relationship Type="http://schemas.openxmlformats.org/officeDocument/2006/relationships/notesSlide" Target="/ppt/notesSlides/notesSlide5.xml" Id="Rf176b11b635845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82ec56b74d4a3a" /><Relationship Type="http://schemas.openxmlformats.org/officeDocument/2006/relationships/chart" Target="/ppt/slides/charts/chart2.xml" Id="Rb3bd5b2e35c54787" /><Relationship Type="http://schemas.openxmlformats.org/officeDocument/2006/relationships/notesSlide" Target="/ppt/notesSlides/notesSlide6.xml" Id="R9b1699badbb24c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cdf67ece954b53" /><Relationship Type="http://schemas.openxmlformats.org/officeDocument/2006/relationships/chart" Target="/ppt/slides/charts/chart3.xml" Id="R37f074e4383d4d17" /><Relationship Type="http://schemas.openxmlformats.org/officeDocument/2006/relationships/notesSlide" Target="/ppt/notesSlides/notesSlide7.xml" Id="R0d4720a9e2d14d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21da5b74ee43fa" /><Relationship Type="http://schemas.openxmlformats.org/officeDocument/2006/relationships/chart" Target="/ppt/slides/charts/chart4.xml" Id="R20f14234396a4e9b" /><Relationship Type="http://schemas.openxmlformats.org/officeDocument/2006/relationships/notesSlide" Target="/ppt/notesSlides/notesSlide8.xml" Id="R6db7ba9fedea4c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98163ab8394781" /><Relationship Type="http://schemas.openxmlformats.org/officeDocument/2006/relationships/chart" Target="/ppt/slides/charts/chart5.xml" Id="Ra25e853656654da8" /><Relationship Type="http://schemas.openxmlformats.org/officeDocument/2006/relationships/notesSlide" Target="/ppt/notesSlides/notesSlide9.xml" Id="Ra4672082dd6747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339b4083304cfb" /><Relationship Type="http://schemas.openxmlformats.org/officeDocument/2006/relationships/chart" Target="/ppt/slides/charts/chart6.xml" Id="R151644f0b7244068" /><Relationship Type="http://schemas.openxmlformats.org/officeDocument/2006/relationships/notesSlide" Target="/ppt/notesSlides/notesSlide10.xml" Id="R1dd3fe5f84324b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d4b85abe4a4eb9" /><Relationship Type="http://schemas.openxmlformats.org/officeDocument/2006/relationships/notesSlide" Target="/ppt/notesSlides/notesSlide11.xml" Id="Rb3101c3f2cd44e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9abe70300046cb" /><Relationship Type="http://schemas.openxmlformats.org/officeDocument/2006/relationships/notesSlide" Target="/ppt/notesSlides/notesSlide12.xml" Id="Raa3733d4498c47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24ecd27a974941" /><Relationship Type="http://schemas.openxmlformats.org/officeDocument/2006/relationships/notesSlide" Target="/ppt/notesSlides/notesSlide13.xml" Id="Ra9d3f7f2286247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5b51e21c8e45a6" /><Relationship Type="http://schemas.openxmlformats.org/officeDocument/2006/relationships/chart" Target="/ppt/slides/charts/chart7.xml" Id="R0e21841010a440cd" /><Relationship Type="http://schemas.openxmlformats.org/officeDocument/2006/relationships/notesSlide" Target="/ppt/notesSlides/notesSlide14.xml" Id="Rc1525bd9c0fc4f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907a5579f84cb2" /><Relationship Type="http://schemas.openxmlformats.org/officeDocument/2006/relationships/chart" Target="/ppt/slides/charts/chart8.xml" Id="R4bf4c1de17e84429" /><Relationship Type="http://schemas.openxmlformats.org/officeDocument/2006/relationships/notesSlide" Target="/ppt/notesSlides/notesSlide15.xml" Id="Rd8cfbcc2366147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6ae79a9a4b49c6" /><Relationship Type="http://schemas.openxmlformats.org/officeDocument/2006/relationships/notesSlide" Target="/ppt/notesSlides/notesSlide16.xml" Id="R67b0067814b049c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fb2518b4bf49bc" /><Relationship Type="http://schemas.openxmlformats.org/officeDocument/2006/relationships/notesSlide" Target="/ppt/notesSlides/notesSlide17.xml" Id="R44c9860ce1c24b8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74645d3199466c" /><Relationship Type="http://schemas.openxmlformats.org/officeDocument/2006/relationships/notesSlide" Target="/ppt/notesSlides/notesSlide18.xml" Id="Rd6c1d6efe2114b2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近期营业收入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63F47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公司营业收入</c:v>
          </c:tx>
          <c:spPr>
            <a:ln xmlns:a="http://schemas.openxmlformats.org/drawingml/2006/main" w="28575">
              <a:solidFill>
                <a:srgbClr val="147E89"/>
              </a:solidFill>
            </a:ln>
          </c:spPr>
          <c:marker>
            <c:symbol val="circle"/>
            <c:size val="6"/>
          </c:marker>
          <c:cat>
            <c:numRef>
              <c:f>'Chart Data'!$A$2:$A$7</c:f>
              <c:numCache>
                <c:formatCode>0.0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949.153809</c:v>
                </c:pt>
                <c:pt idx="1">
                  <c:v>1061.901548</c:v>
                </c:pt>
                <c:pt idx="2">
                  <c:v>1240.998438</c:v>
                </c:pt>
                <c:pt idx="3">
                  <c:v>1476.93605</c:v>
                </c:pt>
                <c:pt idx="4">
                  <c:v>1708.991523</c:v>
                </c:pt>
                <c:pt idx="5">
                  <c:v>1688.381025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55A6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2DC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55A6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2025较2024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63F47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同比变化</c:v>
          </c:tx>
          <c:spPr>
            <a:solidFill xmlns:a="http://schemas.openxmlformats.org/drawingml/2006/main">
              <a:srgbClr val="147E89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营业收入</c:v>
                </c:pt>
                <c:pt idx="1">
                  <c:v>公司出货</c:v>
                </c:pt>
                <c:pt idx="2">
                  <c:v>成品库存</c:v>
                </c:pt>
                <c:pt idx="3">
                  <c:v>合并CFO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-1.206004</c:v>
                </c:pt>
                <c:pt idx="1">
                  <c:v>2.125671</c:v>
                </c:pt>
                <c:pt idx="2">
                  <c:v>39.472691</c:v>
                </c:pt>
                <c:pt idx="3">
                  <c:v>-33.463391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55A6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55A6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-4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55A6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成品相对公司出货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63F47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期末成品/年出货</c:v>
          </c:tx>
          <c:spPr>
            <a:ln xmlns:a="http://schemas.openxmlformats.org/drawingml/2006/main" w="28575">
              <a:solidFill>
                <a:srgbClr val="147E89"/>
              </a:solidFill>
            </a:ln>
          </c:spPr>
          <c:marker>
            <c:symbol val="circle"/>
            <c:size val="5"/>
          </c:marker>
          <c:cat>
            <c:numRef>
              <c:f>'Chart Data'!$A$2:$A$3</c:f>
              <c:numCache>
                <c:formatCode>0.0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77.789335</c:v>
                </c:pt>
                <c:pt idx="1">
                  <c:v>106.236638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55A6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2DC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55A6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2025渠道毛利率变化分解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63F47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毛利率变化</c:v>
          </c:tx>
          <c:spPr>
            <a:solidFill xmlns:a="http://schemas.openxmlformats.org/drawingml/2006/main">
              <a:srgbClr val="147E89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结构效应</c:v>
                </c:pt>
                <c:pt idx="1">
                  <c:v>渠道内部</c:v>
                </c:pt>
                <c:pt idx="2">
                  <c:v>合计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0.3934</c:v>
                </c:pt>
                <c:pt idx="1">
                  <c:v>-1.1771</c:v>
                </c:pt>
                <c:pt idx="2">
                  <c:v>-0.7837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55A6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55A6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-1.4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55A6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平台在直销内的份额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63F47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i茅台占直销</c:v>
          </c:tx>
          <c:spPr>
            <a:ln xmlns:a="http://schemas.openxmlformats.org/drawingml/2006/main" w="28575">
              <a:solidFill>
                <a:srgbClr val="147E89"/>
              </a:solidFill>
            </a:ln>
          </c:spPr>
          <c:marker>
            <c:symbol val="circle"/>
            <c:size val="7"/>
          </c:marker>
          <c:cat>
            <c:numRef>
              <c:f>'Chart Data'!$A$2:$A$5</c:f>
              <c:numCache>
                <c:formatCode>0.0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24.064412</c:v>
                </c:pt>
                <c:pt idx="1">
                  <c:v>33.278843</c:v>
                </c:pt>
                <c:pt idx="2">
                  <c:v>26.75411</c:v>
                </c:pt>
                <c:pt idx="3">
                  <c:v>15.413939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55A6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55A6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同范围利润与现金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63F47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合并净利润</c:v>
          </c:tx>
          <c:spPr>
            <a:solidFill xmlns:a="http://schemas.openxmlformats.org/drawingml/2006/main">
              <a:srgbClr val="163F47"/>
            </a:solidFill>
          </c:spPr>
          <c:invertIfNegative val="0"/>
          <c:cat>
            <c:numRef>
              <c:f>'Chart Data'!$A$2:$A$3</c:f>
              <c:numCache>
                <c:formatCode>0.0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893.34728</c:v>
                </c:pt>
                <c:pt idx="1">
                  <c:v>853.103248</c:v>
                </c:pt>
              </c:numCache>
            </c:numRef>
          </c:val>
        </c:ser>
        <c:ser>
          <c:idx val="1"/>
          <c:order val="1"/>
          <c:tx>
            <c:v>合并CFO</c:v>
          </c:tx>
          <c:spPr>
            <a:solidFill xmlns:a="http://schemas.openxmlformats.org/drawingml/2006/main">
              <a:srgbClr val="79A8A5"/>
            </a:solidFill>
          </c:spPr>
          <c:invertIfNegative val="0"/>
          <c:cat>
            <c:numRef>
              <c:f>'Chart Data'!$C$2:$C$3</c:f>
              <c:numCache>
                <c:formatCode>0.0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924.636922</c:v>
                </c:pt>
                <c:pt idx="1">
                  <c:v>615.22205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55A6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55A6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2DC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55A6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355A63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条件营业收入路径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63F47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压力</c:v>
          </c:tx>
          <c:spPr>
            <a:ln xmlns:a="http://schemas.openxmlformats.org/drawingml/2006/main" w="28575">
              <a:solidFill>
                <a:srgbClr val="B28750"/>
              </a:solidFill>
            </a:ln>
          </c:spPr>
          <c:marker>
            <c:symbol val="circle"/>
            <c:size val="6"/>
          </c:marker>
          <c:cat>
            <c:numRef>
              <c:f>'Chart Data'!$A$2:$A$5</c:f>
              <c:numCache>
                <c:formatCode>0.0</c:formatCod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numCache>
            </c:num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1688.381025</c:v>
                </c:pt>
                <c:pt idx="1">
                  <c:v>1531.102012</c:v>
                </c:pt>
                <c:pt idx="2">
                  <c:v>1485.188007</c:v>
                </c:pt>
                <c:pt idx="3">
                  <c:v>1501.921938</c:v>
                </c:pt>
              </c:numCache>
            </c:numRef>
          </c:val>
        </c:ser>
        <c:ser>
          <c:idx val="1"/>
          <c:order val="1"/>
          <c:tx>
            <c:v>基准</c:v>
          </c:tx>
          <c:spPr>
            <a:ln xmlns:a="http://schemas.openxmlformats.org/drawingml/2006/main" w="28575">
              <a:solidFill>
                <a:srgbClr val="147E89"/>
              </a:solidFill>
            </a:ln>
          </c:spPr>
          <c:marker>
            <c:symbol val="circle"/>
            <c:size val="6"/>
          </c:marker>
          <c:cat>
            <c:numRef>
              <c:f>'Chart Data'!$C$2:$C$5</c:f>
              <c:numCache>
                <c:formatCode>0.0</c:formatCod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numCache>
            </c:num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1688.381025</c:v>
                </c:pt>
                <c:pt idx="1">
                  <c:v>1664.528163</c:v>
                </c:pt>
                <c:pt idx="2">
                  <c:v>1697.741872</c:v>
                </c:pt>
                <c:pt idx="3">
                  <c:v>1768.250352</c:v>
                </c:pt>
              </c:numCache>
            </c:numRef>
          </c:val>
        </c:ser>
        <c:ser>
          <c:idx val="2"/>
          <c:order val="2"/>
          <c:tx>
            <c:v>修复</c:v>
          </c:tx>
          <c:spPr>
            <a:ln xmlns:a="http://schemas.openxmlformats.org/drawingml/2006/main" w="28575">
              <a:solidFill>
                <a:srgbClr val="163F47"/>
              </a:solidFill>
            </a:ln>
          </c:spPr>
          <c:marker>
            <c:symbol val="circle"/>
            <c:size val="6"/>
          </c:marker>
          <c:cat>
            <c:numRef>
              <c:f>'Chart Data'!$E$2:$E$5</c:f>
              <c:numCache>
                <c:formatCode>0.0</c:formatCod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numCache>
            </c:numRef>
          </c:cat>
          <c:val>
            <c:numRef>
              <c:f>'Chart Data'!$F$2:$F$5</c:f>
              <c:numCache>
                <c:formatCode>0.0</c:formatCode>
                <c:ptCount val="4"/>
                <c:pt idx="0">
                  <c:v>1688.381025</c:v>
                </c:pt>
                <c:pt idx="1">
                  <c:v>1792.605744</c:v>
                </c:pt>
                <c:pt idx="2">
                  <c:v>1942.975871</c:v>
                </c:pt>
                <c:pt idx="3">
                  <c:v>2083.560114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55A6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2DC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55A6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355A63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独立敏感度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63F47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沿2025基数</c:v>
          </c:tx>
          <c:spPr>
            <a:solidFill xmlns:a="http://schemas.openxmlformats.org/drawingml/2006/main">
              <a:srgbClr val="147E89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ASP +1%：收入</c:v>
                </c:pt>
                <c:pt idx="1">
                  <c:v>费率 +1pp：费用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14.6498</c:v>
                </c:pt>
                <c:pt idx="1">
                  <c:v>16.8838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355A6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55A6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2DC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55A6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F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AF442F1B-DEA2-4796-8A36-5137E939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AACBC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AACBC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AACBC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AACBC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AACBC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AACBC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AACBC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AACBC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AACBC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AACBC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CB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ACBC5"/>
                </a:solidFill>
                <a:latin typeface="Microsoft YaHei"/>
                <a:ea typeface="Microsoft YaHei"/>
                <a:cs typeface="Microsoft YaHei"/>
              </a:rPr>
              <a:t>研究系统 × 贵州茅台 / 01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089B09-1595-4965-B3A8-DA44109F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900" b="1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900" b="1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900" b="1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900" b="1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900" b="1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900" b="1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900" b="1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900" b="1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900" b="1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rPr>
              <a:t>我们怎样研究一家公司的未来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0A0B781C-B32C-447F-9CF1-EAFAE05A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7F0"/>
                </a:solidFill>
                <a:latin typeface="Microsoft YaHei"/>
                <a:ea typeface="Microsoft YaHei"/>
                <a:cs typeface="Microsoft YaHei"/>
              </a:rPr>
              <a:t>从可核对的事实，走到能讨论、能改判的经营判断。</a:t>
            </a:r>
          </a:p>
        </p:txBody>
      </p:sp>
      <p:sp>
        <p:nvSpPr>
          <p:cNvPr id="4" name="cover-subject">
            <a:extLst xmlns:a="http://schemas.openxmlformats.org/drawingml/2006/main">
              <a:ext uri="{FF2B5EF4-FFF2-40B4-BE49-F238E27FC236}">
                <a16:creationId xmlns:a16="http://schemas.microsoft.com/office/drawing/2014/main" id="{882A0017-560E-4719-B563-791F89FF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D1AC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D1AC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D1AC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D1AC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D1AC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D1AC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D1AC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D1AC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D1AC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D1AC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1A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D1AC72"/>
                </a:solidFill>
                <a:latin typeface="Microsoft YaHei"/>
                <a:ea typeface="Microsoft YaHei"/>
                <a:cs typeface="Microsoft YaHei"/>
              </a:rPr>
              <a:t>一瓶酒的三道考试</a:t>
            </a:r>
          </a:p>
        </p:txBody>
      </p:sp>
      <p:sp>
        <p:nvSpPr>
          <p:cNvPr id="5" name="cover-details">
            <a:extLst xmlns:a="http://schemas.openxmlformats.org/drawingml/2006/main">
              <a:ext uri="{FF2B5EF4-FFF2-40B4-BE49-F238E27FC236}">
                <a16:creationId xmlns:a16="http://schemas.microsoft.com/office/drawing/2014/main" id="{1F3043B5-05DD-46D6-9180-F7183760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8DD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C8DD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C8DD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C8DD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C8DD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C8DD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C8DD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C8DD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C8DD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C8DD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D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8DDD6"/>
                </a:solidFill>
                <a:latin typeface="Microsoft YaHei"/>
                <a:ea typeface="Microsoft YaHei"/>
                <a:cs typeface="Microsoft YaHei"/>
              </a:rPr>
              <a:t>研究系统与贵州茅台案例   2026.10.25</a:t>
            </a:r>
          </a:p>
        </p:txBody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14738F48-AF0F-4ECE-8B91-DC39D719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A8C8C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A8C8C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A8C8C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A8C8C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A8C8C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A8C8C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A8C8C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A8C8C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A8C8C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A8C8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C8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8C8C2"/>
                </a:solidFill>
                <a:latin typeface="Microsoft YaHei"/>
                <a:ea typeface="Microsoft YaHei"/>
                <a:cs typeface="Microsoft YaHei"/>
              </a:rPr>
              <a:t>来源：本项目年报、当前事实接口、合同与运算底稿；未来情景为研究假设。01 / 18</a:t>
            </a:r>
          </a:p>
        </p:txBody>
      </p:sp>
    </p:spTree>
    <p:extLst>
      <p:ext uri="{BB962C8B-B14F-4D97-AF65-F5344CB8AC3E}">
        <p14:creationId xmlns:p14="http://schemas.microsoft.com/office/powerpoint/2010/main" val="13764878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C7016212-98BE-47C7-8F66-B94DD390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rPr>
              <a:t>先讲生意 / 02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1CD277D-5F4D-4E19-9548-BEEA893C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先认识这台商业机器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3BFB1A15-5FAC-4253-A59E-EFD28868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先投原料和时间，再交付产品，最后让资金回到下一轮。</a:t>
            </a:r>
          </a:p>
        </p:txBody>
      </p:sp>
      <p:sp>
        <p:nvSpPr>
          <p:cNvPr id="4" name="key-0">
            <a:extLst xmlns:a="http://schemas.openxmlformats.org/drawingml/2006/main">
              <a:ext uri="{FF2B5EF4-FFF2-40B4-BE49-F238E27FC236}">
                <a16:creationId xmlns:a16="http://schemas.microsoft.com/office/drawing/2014/main" id="{A714B13F-9034-4E82-A5B7-79BB0368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生产与等待：形成有质量要求的供给</a:t>
            </a:r>
          </a:p>
        </p:txBody>
      </p:sp>
      <p:sp>
        <p:nvSpPr>
          <p:cNvPr id="5" name="key-1">
            <a:extLst xmlns:a="http://schemas.openxmlformats.org/drawingml/2006/main">
              <a:ext uri="{FF2B5EF4-FFF2-40B4-BE49-F238E27FC236}">
                <a16:creationId xmlns:a16="http://schemas.microsoft.com/office/drawing/2014/main" id="{2DFC1C48-583F-4B96-8708-FC36922C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渠道与客户：决定产品怎样被接受、收入在哪里确认</a:t>
            </a:r>
          </a:p>
        </p:txBody>
      </p:sp>
      <p:sp>
        <p:nvSpPr>
          <p:cNvPr id="6" name="key-2">
            <a:extLst xmlns:a="http://schemas.openxmlformats.org/drawingml/2006/main">
              <a:ext uri="{FF2B5EF4-FFF2-40B4-BE49-F238E27FC236}">
                <a16:creationId xmlns:a16="http://schemas.microsoft.com/office/drawing/2014/main" id="{5A41A31C-96CF-4CEB-9205-AABD5FCB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费用与资金：决定毛利最终留下多少</a:t>
            </a:r>
          </a:p>
        </p:txBody>
      </p:sp>
      <p:sp>
        <p:nvSpPr>
          <p:cNvPr id="7" name="node-0">
            <a:extLst xmlns:a="http://schemas.openxmlformats.org/drawingml/2006/main">
              <a:ext uri="{FF2B5EF4-FFF2-40B4-BE49-F238E27FC236}">
                <a16:creationId xmlns:a16="http://schemas.microsoft.com/office/drawing/2014/main" id="{91589355-1B9B-4599-9E70-E98BC7E7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81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先投入与等待</a:t>
            </a:r>
          </a:p>
        </p:txBody>
      </p:sp>
      <p:sp>
        <p:nvSpPr>
          <p:cNvPr id="8" name="node-note-0">
            <a:extLst xmlns:a="http://schemas.openxmlformats.org/drawingml/2006/main">
              <a:ext uri="{FF2B5EF4-FFF2-40B4-BE49-F238E27FC236}">
                <a16:creationId xmlns:a16="http://schemas.microsoft.com/office/drawing/2014/main" id="{BC735894-7D8D-4360-BF5A-C29084F7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81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原料、生产、储存与勾兑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184BB-0D2E-47C8-8BF5-0314EF90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62250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CEC4"/>
            </a:solidFill>
          </a:ln>
        </p:spPr>
      </p:sp>
      <p:sp>
        <p:nvSpPr>
          <p:cNvPr id="10" name="node-1">
            <a:extLst xmlns:a="http://schemas.openxmlformats.org/drawingml/2006/main">
              <a:ext uri="{FF2B5EF4-FFF2-40B4-BE49-F238E27FC236}">
                <a16:creationId xmlns:a16="http://schemas.microsoft.com/office/drawing/2014/main" id="{23C40655-EC3C-437F-B1A0-ED3240CC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337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再交付与销售</a:t>
            </a:r>
          </a:p>
        </p:txBody>
      </p:sp>
      <p:sp>
        <p:nvSpPr>
          <p:cNvPr id="11" name="node-note-1">
            <a:extLst xmlns:a="http://schemas.openxmlformats.org/drawingml/2006/main">
              <a:ext uri="{FF2B5EF4-FFF2-40B4-BE49-F238E27FC236}">
                <a16:creationId xmlns:a16="http://schemas.microsoft.com/office/drawing/2014/main" id="{61B5EEF6-B6A9-4199-9E9B-E7603DDC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338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客户接受，渠道安排收益与责任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2AF2D-9F0E-4C79-8178-26AEE481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714750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CEC4"/>
            </a:solidFill>
          </a:ln>
        </p:spPr>
      </p:sp>
      <p:sp>
        <p:nvSpPr>
          <p:cNvPr id="13" name="node-2">
            <a:extLst xmlns:a="http://schemas.openxmlformats.org/drawingml/2006/main">
              <a:ext uri="{FF2B5EF4-FFF2-40B4-BE49-F238E27FC236}">
                <a16:creationId xmlns:a16="http://schemas.microsoft.com/office/drawing/2014/main" id="{EC6549DC-9CC6-4785-8C32-9ABA6FCD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86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让资金回到下一轮</a:t>
            </a:r>
          </a:p>
        </p:txBody>
      </p:sp>
      <p:sp>
        <p:nvSpPr>
          <p:cNvPr id="14" name="node-note-2">
            <a:extLst xmlns:a="http://schemas.openxmlformats.org/drawingml/2006/main">
              <a:ext uri="{FF2B5EF4-FFF2-40B4-BE49-F238E27FC236}">
                <a16:creationId xmlns:a16="http://schemas.microsoft.com/office/drawing/2014/main" id="{F7185810-FF7C-43D9-A1C1-5D17515F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86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费用、周转、回款与再投入</a:t>
            </a:r>
          </a:p>
        </p:txBody>
      </p:sp>
      <p:sp>
        <p:nvSpPr>
          <p:cNvPr id="15" name="source">
            <a:extLst xmlns:a="http://schemas.openxmlformats.org/drawingml/2006/main">
              <a:ext uri="{FF2B5EF4-FFF2-40B4-BE49-F238E27FC236}">
                <a16:creationId xmlns:a16="http://schemas.microsoft.com/office/drawing/2014/main" id="{1265AC3D-D40F-45A9-AAC4-D0A433DA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来源：本项目年报、当前事实接口、合同与运算底稿；未来情景为研究假设。02 / 18</a:t>
            </a:r>
          </a:p>
        </p:txBody>
      </p:sp>
    </p:spTree>
    <p:extLst>
      <p:ext uri="{BB962C8B-B14F-4D97-AF65-F5344CB8AC3E}">
        <p14:creationId xmlns:p14="http://schemas.microsoft.com/office/powerpoint/2010/main" val="1956176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9F356B7F-03E5-4D70-A702-A2906B44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rPr>
              <a:t>任务全景 / 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6EB4DF-DA5A-4AB1-BCE4-E2903B72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合同是阶梯，每一步解决一种错误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65CFA257-9DCF-4578-AD9A-10587709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先找到数字，再辨口径与变化，最后研究机制与未来。</a:t>
            </a:r>
          </a:p>
        </p:txBody>
      </p:sp>
      <p:sp>
        <p:nvSpPr>
          <p:cNvPr id="4" name="key-0">
            <a:extLst xmlns:a="http://schemas.openxmlformats.org/drawingml/2006/main">
              <a:ext uri="{FF2B5EF4-FFF2-40B4-BE49-F238E27FC236}">
                <a16:creationId xmlns:a16="http://schemas.microsoft.com/office/drawing/2014/main" id="{CDD0CE30-A6CD-411C-B2EF-45897FED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第一至四次：位置、结构、口径与同口径变化</a:t>
            </a:r>
          </a:p>
        </p:txBody>
      </p:sp>
      <p:sp>
        <p:nvSpPr>
          <p:cNvPr id="5" name="key-1">
            <a:extLst xmlns:a="http://schemas.openxmlformats.org/drawingml/2006/main">
              <a:ext uri="{FF2B5EF4-FFF2-40B4-BE49-F238E27FC236}">
                <a16:creationId xmlns:a16="http://schemas.microsoft.com/office/drawing/2014/main" id="{908492A2-B930-4DD0-84B7-EDF20A04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第五次及三条延伸：生产、渠道、资本现金连成经营闭环</a:t>
            </a:r>
          </a:p>
        </p:txBody>
      </p:sp>
      <p:sp>
        <p:nvSpPr>
          <p:cNvPr id="6" name="key-2">
            <a:extLst xmlns:a="http://schemas.openxmlformats.org/drawingml/2006/main">
              <a:ext uri="{FF2B5EF4-FFF2-40B4-BE49-F238E27FC236}">
                <a16:creationId xmlns:a16="http://schemas.microsoft.com/office/drawing/2014/main" id="{C63D613A-15C7-41C9-9C52-ADBE18D0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第六、七次：竞争边界、优势假说和叙事反证</a:t>
            </a:r>
          </a:p>
        </p:txBody>
      </p:sp>
      <p:sp>
        <p:nvSpPr>
          <p:cNvPr id="7" name="node-0">
            <a:extLst xmlns:a="http://schemas.openxmlformats.org/drawingml/2006/main">
              <a:ext uri="{FF2B5EF4-FFF2-40B4-BE49-F238E27FC236}">
                <a16:creationId xmlns:a16="http://schemas.microsoft.com/office/drawing/2014/main" id="{C9660058-650A-4379-A587-8799A22E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81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第一至四次：证据基础</a:t>
            </a:r>
          </a:p>
        </p:txBody>
      </p:sp>
      <p:sp>
        <p:nvSpPr>
          <p:cNvPr id="8" name="node-note-0">
            <a:extLst xmlns:a="http://schemas.openxmlformats.org/drawingml/2006/main">
              <a:ext uri="{FF2B5EF4-FFF2-40B4-BE49-F238E27FC236}">
                <a16:creationId xmlns:a16="http://schemas.microsoft.com/office/drawing/2014/main" id="{E2790747-DEFA-4DA4-89E3-0A35E381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81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定位、结构、口径、变化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46CC5-2A2D-4176-AE27-E738DC9D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62250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CEC4"/>
            </a:solidFill>
          </a:ln>
        </p:spPr>
      </p:sp>
      <p:sp>
        <p:nvSpPr>
          <p:cNvPr id="10" name="node-1">
            <a:extLst xmlns:a="http://schemas.openxmlformats.org/drawingml/2006/main">
              <a:ext uri="{FF2B5EF4-FFF2-40B4-BE49-F238E27FC236}">
                <a16:creationId xmlns:a16="http://schemas.microsoft.com/office/drawing/2014/main" id="{BE53F71E-196C-47B9-A406-96320FF0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337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第五次：商业过程</a:t>
            </a:r>
          </a:p>
        </p:txBody>
      </p:sp>
      <p:sp>
        <p:nvSpPr>
          <p:cNvPr id="11" name="node-note-1">
            <a:extLst xmlns:a="http://schemas.openxmlformats.org/drawingml/2006/main">
              <a:ext uri="{FF2B5EF4-FFF2-40B4-BE49-F238E27FC236}">
                <a16:creationId xmlns:a16="http://schemas.microsoft.com/office/drawing/2014/main" id="{89AD10A0-8A45-4B6B-8A2B-AC06C5BA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338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收入、成本、资本、现金与三条延伸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DE4CD-4BA3-42B0-81E0-E3B0D60F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714750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CEC4"/>
            </a:solidFill>
          </a:ln>
        </p:spPr>
      </p:sp>
      <p:sp>
        <p:nvSpPr>
          <p:cNvPr id="13" name="node-2">
            <a:extLst xmlns:a="http://schemas.openxmlformats.org/drawingml/2006/main">
              <a:ext uri="{FF2B5EF4-FFF2-40B4-BE49-F238E27FC236}">
                <a16:creationId xmlns:a16="http://schemas.microsoft.com/office/drawing/2014/main" id="{E07E0D1F-5703-4BE3-ADA3-AC3E535C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86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第六七次：机制检验</a:t>
            </a:r>
          </a:p>
        </p:txBody>
      </p:sp>
      <p:sp>
        <p:nvSpPr>
          <p:cNvPr id="14" name="node-note-2">
            <a:extLst xmlns:a="http://schemas.openxmlformats.org/drawingml/2006/main">
              <a:ext uri="{FF2B5EF4-FFF2-40B4-BE49-F238E27FC236}">
                <a16:creationId xmlns:a16="http://schemas.microsoft.com/office/drawing/2014/main" id="{809E7C4C-C857-4DA5-8AD1-F88FE03E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86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竞争、优势、叙事与反证</a:t>
            </a:r>
          </a:p>
        </p:txBody>
      </p:sp>
      <p:sp>
        <p:nvSpPr>
          <p:cNvPr id="15" name="source">
            <a:extLst xmlns:a="http://schemas.openxmlformats.org/drawingml/2006/main">
              <a:ext uri="{FF2B5EF4-FFF2-40B4-BE49-F238E27FC236}">
                <a16:creationId xmlns:a16="http://schemas.microsoft.com/office/drawing/2014/main" id="{626A39D3-985A-46D9-AFF7-4EBD3D7D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来源：本项目年报、当前事实接口、合同与运算底稿；未来情景为研究假设。03 / 18</a:t>
            </a:r>
          </a:p>
        </p:txBody>
      </p:sp>
    </p:spTree>
    <p:extLst>
      <p:ext uri="{BB962C8B-B14F-4D97-AF65-F5344CB8AC3E}">
        <p14:creationId xmlns:p14="http://schemas.microsoft.com/office/powerpoint/2010/main" val="21278066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3F6D5E7-D9FA-4DAB-8A3A-77355832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rPr>
              <a:t>研究系统 /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B43933-8EE1-45C9-BAA0-028FE3AD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怎样保证大家看到的是同一个数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1C0AE8C3-E1EA-4E49-A9D2-7F73CC71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原件、真实核验、计算、解释与签署，各自留下记录。</a:t>
            </a:r>
          </a:p>
        </p:txBody>
      </p:sp>
      <p:sp>
        <p:nvSpPr>
          <p:cNvPr id="4" name="key-0">
            <a:extLst xmlns:a="http://schemas.openxmlformats.org/drawingml/2006/main">
              <a:ext uri="{FF2B5EF4-FFF2-40B4-BE49-F238E27FC236}">
                <a16:creationId xmlns:a16="http://schemas.microsoft.com/office/drawing/2014/main" id="{30146B16-129D-41BA-B9A9-702A14A4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当前原披露域144条有效记录；其他授权域独立校验，有重叠</a:t>
            </a:r>
          </a:p>
        </p:txBody>
      </p:sp>
      <p:sp>
        <p:nvSpPr>
          <p:cNvPr id="5" name="key-1">
            <a:extLst xmlns:a="http://schemas.openxmlformats.org/drawingml/2006/main">
              <a:ext uri="{FF2B5EF4-FFF2-40B4-BE49-F238E27FC236}">
                <a16:creationId xmlns:a16="http://schemas.microsoft.com/office/drawing/2014/main" id="{C1E0406B-13F6-4CFD-A946-8F55F3A6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ReviewStore检查当前来源与依赖，旧摘要负责导航</a:t>
            </a:r>
          </a:p>
        </p:txBody>
      </p:sp>
      <p:sp>
        <p:nvSpPr>
          <p:cNvPr id="6" name="key-2">
            <a:extLst xmlns:a="http://schemas.openxmlformats.org/drawingml/2006/main">
              <a:ext uri="{FF2B5EF4-FFF2-40B4-BE49-F238E27FC236}">
                <a16:creationId xmlns:a16="http://schemas.microsoft.com/office/drawing/2014/main" id="{6057E9EC-AB2A-4283-995D-C4ACF2F4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同源同口径批量核验；未变有效旧事实直接复用</a:t>
            </a:r>
          </a:p>
        </p:txBody>
      </p:sp>
      <p:sp>
        <p:nvSpPr>
          <p:cNvPr id="7" name="node-0">
            <a:extLst xmlns:a="http://schemas.openxmlformats.org/drawingml/2006/main">
              <a:ext uri="{FF2B5EF4-FFF2-40B4-BE49-F238E27FC236}">
                <a16:creationId xmlns:a16="http://schemas.microsoft.com/office/drawing/2014/main" id="{5CD477F0-EC0C-4B4A-8135-E126840C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81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原件与当前来源绑定</a:t>
            </a:r>
          </a:p>
        </p:txBody>
      </p:sp>
      <p:sp>
        <p:nvSpPr>
          <p:cNvPr id="8" name="node-note-0">
            <a:extLst xmlns:a="http://schemas.openxmlformats.org/drawingml/2006/main">
              <a:ext uri="{FF2B5EF4-FFF2-40B4-BE49-F238E27FC236}">
                <a16:creationId xmlns:a16="http://schemas.microsoft.com/office/drawing/2014/main" id="{19E2924E-734B-46F2-9241-8FE610AB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81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原数、期间、单位、主体和真实确认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1E216-3A38-4B37-8F46-EF9A5B01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62250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CEC4"/>
            </a:solidFill>
          </a:ln>
        </p:spPr>
      </p:sp>
      <p:sp>
        <p:nvSpPr>
          <p:cNvPr id="10" name="node-1">
            <a:extLst xmlns:a="http://schemas.openxmlformats.org/drawingml/2006/main">
              <a:ext uri="{FF2B5EF4-FFF2-40B4-BE49-F238E27FC236}">
                <a16:creationId xmlns:a16="http://schemas.microsoft.com/office/drawing/2014/main" id="{1CBBBD3E-26C1-4BF6-B108-6973D829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337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可复算的比较与运算</a:t>
            </a:r>
          </a:p>
        </p:txBody>
      </p:sp>
      <p:sp>
        <p:nvSpPr>
          <p:cNvPr id="11" name="node-note-1">
            <a:extLst xmlns:a="http://schemas.openxmlformats.org/drawingml/2006/main">
              <a:ext uri="{FF2B5EF4-FFF2-40B4-BE49-F238E27FC236}">
                <a16:creationId xmlns:a16="http://schemas.microsoft.com/office/drawing/2014/main" id="{26084EF7-5435-4F50-B54B-07C24165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338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口径、公式与结果分开核对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51E2A-00B4-4E14-9C9E-6B7D0546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714750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CEC4"/>
            </a:solidFill>
          </a:ln>
        </p:spPr>
      </p:sp>
      <p:sp>
        <p:nvSpPr>
          <p:cNvPr id="13" name="node-2">
            <a:extLst xmlns:a="http://schemas.openxmlformats.org/drawingml/2006/main">
              <a:ext uri="{FF2B5EF4-FFF2-40B4-BE49-F238E27FC236}">
                <a16:creationId xmlns:a16="http://schemas.microsoft.com/office/drawing/2014/main" id="{8FC93472-708F-4401-88D6-BD8E487A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86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有边界的研究意见</a:t>
            </a:r>
          </a:p>
        </p:txBody>
      </p:sp>
      <p:sp>
        <p:nvSpPr>
          <p:cNvPr id="14" name="node-note-2">
            <a:extLst xmlns:a="http://schemas.openxmlformats.org/drawingml/2006/main">
              <a:ext uri="{FF2B5EF4-FFF2-40B4-BE49-F238E27FC236}">
                <a16:creationId xmlns:a16="http://schemas.microsoft.com/office/drawing/2014/main" id="{34D0F62C-DB6E-423E-9AFC-D7CD57DB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86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机制、预测、验收与签署分别留痕</a:t>
            </a:r>
          </a:p>
        </p:txBody>
      </p:sp>
      <p:sp>
        <p:nvSpPr>
          <p:cNvPr id="15" name="source">
            <a:extLst xmlns:a="http://schemas.openxmlformats.org/drawingml/2006/main">
              <a:ext uri="{FF2B5EF4-FFF2-40B4-BE49-F238E27FC236}">
                <a16:creationId xmlns:a16="http://schemas.microsoft.com/office/drawing/2014/main" id="{BB1D6DF7-B53B-439F-861C-036EF358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来源：本项目年报、当前事实接口、合同与运算底稿；未来情景为研究假设。04 / 18</a:t>
            </a:r>
          </a:p>
        </p:txBody>
      </p:sp>
    </p:spTree>
    <p:extLst>
      <p:ext uri="{BB962C8B-B14F-4D97-AF65-F5344CB8AC3E}">
        <p14:creationId xmlns:p14="http://schemas.microsoft.com/office/powerpoint/2010/main" val="8183842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9C7D97F-1E10-4E88-A215-4A5DC81C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rPr>
              <a:t>从增长到分化 / 05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E62533D-C4C3-4C0B-B108-252E9542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历史成功，不能替代今天的解释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1BDCD4ED-BB57-4388-9902-2DD17754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2024仍增长；2025开始要求我们重设外推起点。</a:t>
            </a:r>
          </a:p>
        </p:txBody>
      </p:sp>
      <p:sp>
        <p:nvSpPr>
          <p:cNvPr id="4" name="key-0">
            <a:extLst xmlns:a="http://schemas.openxmlformats.org/drawingml/2006/main">
              <a:ext uri="{FF2B5EF4-FFF2-40B4-BE49-F238E27FC236}">
                <a16:creationId xmlns:a16="http://schemas.microsoft.com/office/drawing/2014/main" id="{50B900D7-689C-4211-AFCF-664A5CFF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2024营业收入同比15.71%，归母净利润同比15.38%</a:t>
            </a:r>
          </a:p>
        </p:txBody>
      </p:sp>
      <p:sp>
        <p:nvSpPr>
          <p:cNvPr id="5" name="key-1">
            <a:extLst xmlns:a="http://schemas.openxmlformats.org/drawingml/2006/main">
              <a:ext uri="{FF2B5EF4-FFF2-40B4-BE49-F238E27FC236}">
                <a16:creationId xmlns:a16="http://schemas.microsoft.com/office/drawing/2014/main" id="{B9680FDE-FB96-4EA1-861F-D8BEA0AA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2024茅台酒销量+10.22%、组合ASP+4.59%</a:t>
            </a:r>
          </a:p>
        </p:txBody>
      </p:sp>
      <p:sp>
        <p:nvSpPr>
          <p:cNvPr id="6" name="key-2">
            <a:extLst xmlns:a="http://schemas.openxmlformats.org/drawingml/2006/main">
              <a:ext uri="{FF2B5EF4-FFF2-40B4-BE49-F238E27FC236}">
                <a16:creationId xmlns:a16="http://schemas.microsoft.com/office/drawing/2014/main" id="{AF172BBA-17E4-46B4-8AEF-56726576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公司营业收入：2024为1,708.99亿元，2025为1,688.38亿元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9F9F9FB8-75A0-4ACE-9A53-91CAED6DA76E}"/>
              </a:ext>
            </a:extLst>
          </p:cNvPr>
          <p:cNvGraphicFramePr/>
          <p:nvPr/>
        </p:nvGraphicFramePr>
        <p:xfrm>
          <a:off xmlns:a="http://schemas.openxmlformats.org/drawingml/2006/main" x="4762500" y="2333625"/>
          <a:ext xmlns:a="http://schemas.openxmlformats.org/drawingml/2006/main" cx="6858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a414cfeb0b4b8d"/>
          </a:graphicData>
        </a:graphic>
      </p:graphicFrame>
      <p:sp>
        <p:nvSpPr>
          <p:cNvPr id="8" name="unit">
            <a:extLst xmlns:a="http://schemas.openxmlformats.org/drawingml/2006/main">
              <a:ext uri="{FF2B5EF4-FFF2-40B4-BE49-F238E27FC236}">
                <a16:creationId xmlns:a16="http://schemas.microsoft.com/office/drawing/2014/main" id="{DE8A32A7-3596-4E42-9EE7-775F8E82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34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亿元；2025独立后验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1B477788-25FC-41D6-B9FB-25318E3A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来源：本项目年报、当前事实接口、合同与运算底稿；未来情景为研究假设。05 / 18</a:t>
            </a:r>
          </a:p>
        </p:txBody>
      </p:sp>
    </p:spTree>
    <p:extLst>
      <p:ext uri="{BB962C8B-B14F-4D97-AF65-F5344CB8AC3E}">
        <p14:creationId xmlns:p14="http://schemas.microsoft.com/office/powerpoint/2010/main" val="14642035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41B88033-3DD5-4B17-8226-7BB5C2DE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rPr>
              <a:t>问题从哪里来 / 06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8E10D5-97FA-4B9E-B663-4363F0DF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最有信息的，是几条线没有一起走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AAA69B8C-3D15-4BD1-B1CF-0C641F5D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2025出货增加、收入略降、成品增得更快，现金下降更明显。</a:t>
            </a:r>
          </a:p>
        </p:txBody>
      </p:sp>
      <p:sp>
        <p:nvSpPr>
          <p:cNvPr id="4" name="key-0">
            <a:extLst xmlns:a="http://schemas.openxmlformats.org/drawingml/2006/main">
              <a:ext uri="{FF2B5EF4-FFF2-40B4-BE49-F238E27FC236}">
                <a16:creationId xmlns:a16="http://schemas.microsoft.com/office/drawing/2014/main" id="{D8E96C95-8E6C-4936-89AC-60774967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公司出货+2.13%，营业收入−1.21%</a:t>
            </a:r>
          </a:p>
        </p:txBody>
      </p:sp>
      <p:sp>
        <p:nvSpPr>
          <p:cNvPr id="5" name="key-1">
            <a:extLst xmlns:a="http://schemas.openxmlformats.org/drawingml/2006/main">
              <a:ext uri="{FF2B5EF4-FFF2-40B4-BE49-F238E27FC236}">
                <a16:creationId xmlns:a16="http://schemas.microsoft.com/office/drawing/2014/main" id="{C81DC397-30B9-4ECA-8EDD-CD06E3F4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成品库存吨数+39.47%</a:t>
            </a:r>
          </a:p>
        </p:txBody>
      </p:sp>
      <p:sp>
        <p:nvSpPr>
          <p:cNvPr id="6" name="key-2">
            <a:extLst xmlns:a="http://schemas.openxmlformats.org/drawingml/2006/main">
              <a:ext uri="{FF2B5EF4-FFF2-40B4-BE49-F238E27FC236}">
                <a16:creationId xmlns:a16="http://schemas.microsoft.com/office/drawing/2014/main" id="{F5DB5A87-161A-4407-A9C6-BF50A119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合并CFO−33.46%，仍需核金融范围与经营周转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1BC25F14-A6DB-4ABA-8BFD-99D4C2A592FF}"/>
              </a:ext>
            </a:extLst>
          </p:cNvPr>
          <p:cNvGraphicFramePr/>
          <p:nvPr/>
        </p:nvGraphicFramePr>
        <p:xfrm>
          <a:off xmlns:a="http://schemas.openxmlformats.org/drawingml/2006/main" x="4762500" y="2333625"/>
          <a:ext xmlns:a="http://schemas.openxmlformats.org/drawingml/2006/main" cx="6858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bd5b2e35c54787"/>
          </a:graphicData>
        </a:graphic>
      </p:graphicFrame>
      <p:sp>
        <p:nvSpPr>
          <p:cNvPr id="8" name="unit">
            <a:extLst xmlns:a="http://schemas.openxmlformats.org/drawingml/2006/main">
              <a:ext uri="{FF2B5EF4-FFF2-40B4-BE49-F238E27FC236}">
                <a16:creationId xmlns:a16="http://schemas.microsoft.com/office/drawing/2014/main" id="{FF08BB23-804F-4E4B-B05D-FADAEAD3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34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%；不同指标不可加总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2ED670A0-3263-4C0D-86D3-0F1A0CE9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来源：本项目年报、当前事实接口、合同与运算底稿；未来情景为研究假设。06 / 18</a:t>
            </a:r>
          </a:p>
        </p:txBody>
      </p:sp>
    </p:spTree>
    <p:extLst>
      <p:ext uri="{BB962C8B-B14F-4D97-AF65-F5344CB8AC3E}">
        <p14:creationId xmlns:p14="http://schemas.microsoft.com/office/powerpoint/2010/main" val="10171611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EDEB3988-AF38-42C6-9114-C70A8129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rPr>
              <a:t>生产库存延伸 / 07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358B590-B81F-4A17-A735-C3E42E3B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第一道考试：时间能形成供给，不能保证销售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0A35D35E-C27D-4A46-91FE-6D75BADE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“至少五年”是工艺安排，不是一条固定销量公式。</a:t>
            </a:r>
          </a:p>
        </p:txBody>
      </p:sp>
      <p:sp>
        <p:nvSpPr>
          <p:cNvPr id="4" name="key-0">
            <a:extLst xmlns:a="http://schemas.openxmlformats.org/drawingml/2006/main">
              <a:ext uri="{FF2B5EF4-FFF2-40B4-BE49-F238E27FC236}">
                <a16:creationId xmlns:a16="http://schemas.microsoft.com/office/drawing/2014/main" id="{11E903C5-338D-452C-9895-B5BDE21B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半成品构成公司数量库存主体，体现前置投入与等待</a:t>
            </a:r>
          </a:p>
        </p:txBody>
      </p:sp>
      <p:sp>
        <p:nvSpPr>
          <p:cNvPr id="5" name="key-1">
            <a:extLst xmlns:a="http://schemas.openxmlformats.org/drawingml/2006/main">
              <a:ext uri="{FF2B5EF4-FFF2-40B4-BE49-F238E27FC236}">
                <a16:creationId xmlns:a16="http://schemas.microsoft.com/office/drawing/2014/main" id="{91BAEC42-7B01-4D10-A229-8BFA8C8B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跨年勾兑、分级和库存释放使生产年与销售年不能一一配对</a:t>
            </a:r>
          </a:p>
        </p:txBody>
      </p:sp>
      <p:sp>
        <p:nvSpPr>
          <p:cNvPr id="6" name="key-2">
            <a:extLst xmlns:a="http://schemas.openxmlformats.org/drawingml/2006/main">
              <a:ext uri="{FF2B5EF4-FFF2-40B4-BE49-F238E27FC236}">
                <a16:creationId xmlns:a16="http://schemas.microsoft.com/office/drawing/2014/main" id="{A7C595CD-219A-49CA-912F-CBAB2D6A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t+5并列与滞后相关用于诊断；可售量和需求承接另设条件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5482F8E8-8EE8-4DCD-BEA9-11003E052396}"/>
              </a:ext>
            </a:extLst>
          </p:cNvPr>
          <p:cNvGraphicFramePr/>
          <p:nvPr/>
        </p:nvGraphicFramePr>
        <p:xfrm>
          <a:off xmlns:a="http://schemas.openxmlformats.org/drawingml/2006/main" x="4762500" y="2333625"/>
          <a:ext xmlns:a="http://schemas.openxmlformats.org/drawingml/2006/main" cx="6858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f074e4383d4d17"/>
          </a:graphicData>
        </a:graphic>
      </p:graphicFrame>
      <p:sp>
        <p:nvSpPr>
          <p:cNvPr id="8" name="unit">
            <a:extLst xmlns:a="http://schemas.openxmlformats.org/drawingml/2006/main">
              <a:ext uri="{FF2B5EF4-FFF2-40B4-BE49-F238E27FC236}">
                <a16:creationId xmlns:a16="http://schemas.microsoft.com/office/drawing/2014/main" id="{479C8627-E59B-4743-BC9B-92FFD7FA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34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折算天数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8DF693E3-D346-4D3B-8F3A-6358536A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来源：本项目年报、当前事实接口、合同与运算底稿；未来情景为研究假设。07 / 18</a:t>
            </a:r>
          </a:p>
        </p:txBody>
      </p:sp>
    </p:spTree>
    <p:extLst>
      <p:ext uri="{BB962C8B-B14F-4D97-AF65-F5344CB8AC3E}">
        <p14:creationId xmlns:p14="http://schemas.microsoft.com/office/powerpoint/2010/main" val="12317865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6FF4B5-B8F4-4E63-A28D-C4DCC880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rPr>
              <a:t>渠道延伸 / 08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AC498B4-9599-4711-8C74-D08D8E05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第二道考试：直销更多，未必留下更多利润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6D89D8F3-0B57-407D-B3C7-1EDE9FD4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结构的帮助，被渠道内部盈利变化抵消了。</a:t>
            </a:r>
          </a:p>
        </p:txBody>
      </p:sp>
      <p:sp>
        <p:nvSpPr>
          <p:cNvPr id="4" name="key-0">
            <a:extLst xmlns:a="http://schemas.openxmlformats.org/drawingml/2006/main">
              <a:ext uri="{FF2B5EF4-FFF2-40B4-BE49-F238E27FC236}">
                <a16:creationId xmlns:a16="http://schemas.microsoft.com/office/drawing/2014/main" id="{AEAC78F4-6772-42C2-BD52-94BC9F4C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2025直销份额升至50.09%，比2024提高6.22pp</a:t>
            </a:r>
          </a:p>
        </p:txBody>
      </p:sp>
      <p:sp>
        <p:nvSpPr>
          <p:cNvPr id="5" name="key-1">
            <a:extLst xmlns:a="http://schemas.openxmlformats.org/drawingml/2006/main">
              <a:ext uri="{FF2B5EF4-FFF2-40B4-BE49-F238E27FC236}">
                <a16:creationId xmlns:a16="http://schemas.microsoft.com/office/drawing/2014/main" id="{9CD59AAA-428C-4B01-86FA-46A63CE8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结构效应 +0.3934pp</a:t>
            </a:r>
          </a:p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渠道内部 −1.1771pp</a:t>
            </a:r>
          </a:p>
        </p:txBody>
      </p:sp>
      <p:sp>
        <p:nvSpPr>
          <p:cNvPr id="6" name="key-2">
            <a:extLst xmlns:a="http://schemas.openxmlformats.org/drawingml/2006/main">
              <a:ext uri="{FF2B5EF4-FFF2-40B4-BE49-F238E27FC236}">
                <a16:creationId xmlns:a16="http://schemas.microsoft.com/office/drawing/2014/main" id="{BA1DE4C5-CDAB-46DD-AD46-F57B3C74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两渠道加权毛利率净变动−0.7837pp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A939F3E2-1E97-4155-95C0-8D87553D126A}"/>
              </a:ext>
            </a:extLst>
          </p:cNvPr>
          <p:cNvGraphicFramePr/>
          <p:nvPr/>
        </p:nvGraphicFramePr>
        <p:xfrm>
          <a:off xmlns:a="http://schemas.openxmlformats.org/drawingml/2006/main" x="4762500" y="2333625"/>
          <a:ext xmlns:a="http://schemas.openxmlformats.org/drawingml/2006/main" cx="6858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f14234396a4e9b"/>
          </a:graphicData>
        </a:graphic>
      </p:graphicFrame>
      <p:sp>
        <p:nvSpPr>
          <p:cNvPr id="8" name="unit">
            <a:extLst xmlns:a="http://schemas.openxmlformats.org/drawingml/2006/main">
              <a:ext uri="{FF2B5EF4-FFF2-40B4-BE49-F238E27FC236}">
                <a16:creationId xmlns:a16="http://schemas.microsoft.com/office/drawing/2014/main" id="{EFCC0358-61EC-4E99-9662-99E50357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34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百分点；显示值舍入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99A41AE2-0651-4BEA-8087-49B7221F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来源：本项目年报、当前事实接口、合同与运算底稿；未来情景为研究假设。08 / 18</a:t>
            </a:r>
          </a:p>
        </p:txBody>
      </p:sp>
    </p:spTree>
    <p:extLst>
      <p:ext uri="{BB962C8B-B14F-4D97-AF65-F5344CB8AC3E}">
        <p14:creationId xmlns:p14="http://schemas.microsoft.com/office/powerpoint/2010/main" val="13405489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462890B2-9863-4236-A84F-01BEDDA5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rPr>
              <a:t>渠道内部的变化 / 09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511DB94-ED6D-491B-B32D-91137AB7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数字平台与直销整体，已经不是同一个故事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6E34270B-D4B3-446F-BEE4-219DCD9A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平台收入下降时，其余直销收入仍可能增加。</a:t>
            </a:r>
          </a:p>
        </p:txBody>
      </p:sp>
      <p:sp>
        <p:nvSpPr>
          <p:cNvPr id="4" name="key-0">
            <a:extLst xmlns:a="http://schemas.openxmlformats.org/drawingml/2006/main">
              <a:ext uri="{FF2B5EF4-FFF2-40B4-BE49-F238E27FC236}">
                <a16:creationId xmlns:a16="http://schemas.microsoft.com/office/drawing/2014/main" id="{9948C7CB-8D2A-489E-AF72-A0B17606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i茅台占直销：2023为33.28%，2024为26.75%，2025为15.41%</a:t>
            </a:r>
          </a:p>
        </p:txBody>
      </p:sp>
      <p:sp>
        <p:nvSpPr>
          <p:cNvPr id="5" name="key-1">
            <a:extLst xmlns:a="http://schemas.openxmlformats.org/drawingml/2006/main">
              <a:ext uri="{FF2B5EF4-FFF2-40B4-BE49-F238E27FC236}">
                <a16:creationId xmlns:a16="http://schemas.microsoft.com/office/drawing/2014/main" id="{9722998C-A142-4A6D-B4ED-534D266B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2025其余直销收入差额约715.12亿元</a:t>
            </a:r>
          </a:p>
        </p:txBody>
      </p:sp>
      <p:sp>
        <p:nvSpPr>
          <p:cNvPr id="6" name="key-2">
            <a:extLst xmlns:a="http://schemas.openxmlformats.org/drawingml/2006/main">
              <a:ext uri="{FF2B5EF4-FFF2-40B4-BE49-F238E27FC236}">
                <a16:creationId xmlns:a16="http://schemas.microsoft.com/office/drawing/2014/main" id="{FA8D64F3-7200-4A39-8529-7B2CE1C7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需要追问具体路径、产品组合与费用责任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C12E3FE1-5CF6-4101-9FAD-FACC87C8707C}"/>
              </a:ext>
            </a:extLst>
          </p:cNvPr>
          <p:cNvGraphicFramePr/>
          <p:nvPr/>
        </p:nvGraphicFramePr>
        <p:xfrm>
          <a:off xmlns:a="http://schemas.openxmlformats.org/drawingml/2006/main" x="4762500" y="2333625"/>
          <a:ext xmlns:a="http://schemas.openxmlformats.org/drawingml/2006/main" cx="6858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5e853656654da8"/>
          </a:graphicData>
        </a:graphic>
      </p:graphicFrame>
      <p:sp>
        <p:nvSpPr>
          <p:cNvPr id="8" name="unit">
            <a:extLst xmlns:a="http://schemas.openxmlformats.org/drawingml/2006/main">
              <a:ext uri="{FF2B5EF4-FFF2-40B4-BE49-F238E27FC236}">
                <a16:creationId xmlns:a16="http://schemas.microsoft.com/office/drawing/2014/main" id="{A82E578F-BC3C-458D-B336-C7BF3F95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34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%；平台包含在直销中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B63D632A-0D88-4FE5-AF8E-47757D75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来源：本项目年报、当前事实接口、合同与运算底稿；未来情景为研究假设。09 / 18</a:t>
            </a:r>
          </a:p>
        </p:txBody>
      </p:sp>
    </p:spTree>
    <p:extLst>
      <p:ext uri="{BB962C8B-B14F-4D97-AF65-F5344CB8AC3E}">
        <p14:creationId xmlns:p14="http://schemas.microsoft.com/office/powerpoint/2010/main" val="20308610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A209932-A8FA-4251-AE44-1AE001FB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rPr>
              <a:t>现金资本延伸 / 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F7D1BB-ECE4-4DB3-980C-22BFAF7B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第三道考试：厚利润，要跨过周转与金融范围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FC159DCF-5485-49AB-8326-F946D821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多年有较大现金支撑，单年仍有明显波动。</a:t>
            </a:r>
          </a:p>
        </p:txBody>
      </p:sp>
      <p:sp>
        <p:nvSpPr>
          <p:cNvPr id="4" name="key-0">
            <a:extLst xmlns:a="http://schemas.openxmlformats.org/drawingml/2006/main">
              <a:ext uri="{FF2B5EF4-FFF2-40B4-BE49-F238E27FC236}">
                <a16:creationId xmlns:a16="http://schemas.microsoft.com/office/drawing/2014/main" id="{B930BFFA-2F7A-45FA-A27A-23D56C88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2016—2025累计合并CFO／全部净利润约94.14%</a:t>
            </a:r>
          </a:p>
        </p:txBody>
      </p:sp>
      <p:sp>
        <p:nvSpPr>
          <p:cNvPr id="5" name="key-1">
            <a:extLst xmlns:a="http://schemas.openxmlformats.org/drawingml/2006/main">
              <a:ext uri="{FF2B5EF4-FFF2-40B4-BE49-F238E27FC236}">
                <a16:creationId xmlns:a16="http://schemas.microsoft.com/office/drawing/2014/main" id="{F4D2DB44-762A-4F7E-A88B-560CB32C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2025合并净利润853.10亿元，合并CFO615.22亿元</a:t>
            </a:r>
          </a:p>
        </p:txBody>
      </p:sp>
      <p:sp>
        <p:nvSpPr>
          <p:cNvPr id="6" name="key-2">
            <a:extLst xmlns:a="http://schemas.openxmlformats.org/drawingml/2006/main">
              <a:ext uri="{FF2B5EF4-FFF2-40B4-BE49-F238E27FC236}">
                <a16:creationId xmlns:a16="http://schemas.microsoft.com/office/drawing/2014/main" id="{9F4B7773-2D80-4FDA-A08B-690732D9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CFO减购建长期资产现金是算术余量，实体FCFF仍未知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30B1E55A-36E2-4BD4-AB53-87E795BC6F32}"/>
              </a:ext>
            </a:extLst>
          </p:cNvPr>
          <p:cNvGraphicFramePr/>
          <p:nvPr/>
        </p:nvGraphicFramePr>
        <p:xfrm>
          <a:off xmlns:a="http://schemas.openxmlformats.org/drawingml/2006/main" x="4762500" y="2333625"/>
          <a:ext xmlns:a="http://schemas.openxmlformats.org/drawingml/2006/main" cx="6858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1644f0b7244068"/>
          </a:graphicData>
        </a:graphic>
      </p:graphicFrame>
      <p:sp>
        <p:nvSpPr>
          <p:cNvPr id="8" name="unit">
            <a:extLst xmlns:a="http://schemas.openxmlformats.org/drawingml/2006/main">
              <a:ext uri="{FF2B5EF4-FFF2-40B4-BE49-F238E27FC236}">
                <a16:creationId xmlns:a16="http://schemas.microsoft.com/office/drawing/2014/main" id="{72DC21B2-642F-4094-BEB9-9C20BB4F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34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亿元；合并全部净利润与合并CFO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DD1AC839-FAFD-4027-9009-AF415493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来源：本项目年报、当前事实接口、合同与运算底稿；未来情景为研究假设。10 / 18</a:t>
            </a:r>
          </a:p>
        </p:txBody>
      </p:sp>
    </p:spTree>
    <p:extLst>
      <p:ext uri="{BB962C8B-B14F-4D97-AF65-F5344CB8AC3E}">
        <p14:creationId xmlns:p14="http://schemas.microsoft.com/office/powerpoint/2010/main" val="2001857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9C24DDD9-A846-4761-86A5-44843087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rPr>
              <a:t>第六、七次 / 11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7D658DD-0732-4EE6-A7D7-B920C5D2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品牌有解释力，经济兑现仍要逐项检验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D9A5A9B0-8BA5-451A-B91F-20B8DF59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能力载体没有变，不等于它带来的经济收益没有变。</a:t>
            </a:r>
          </a:p>
        </p:txBody>
      </p:sp>
      <p:sp>
        <p:nvSpPr>
          <p:cNvPr id="4" name="key-0">
            <a:extLst xmlns:a="http://schemas.openxmlformats.org/drawingml/2006/main">
              <a:ext uri="{FF2B5EF4-FFF2-40B4-BE49-F238E27FC236}">
                <a16:creationId xmlns:a16="http://schemas.microsoft.com/office/drawing/2014/main" id="{23D35C30-2BDE-43BB-954E-2DD0EFEE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高产品组单位收入与毛利，符合品牌候选机制</a:t>
            </a:r>
          </a:p>
        </p:txBody>
      </p:sp>
      <p:sp>
        <p:nvSpPr>
          <p:cNvPr id="5" name="key-1">
            <a:extLst xmlns:a="http://schemas.openxmlformats.org/drawingml/2006/main">
              <a:ext uri="{FF2B5EF4-FFF2-40B4-BE49-F238E27FC236}">
                <a16:creationId xmlns:a16="http://schemas.microsoft.com/office/drawing/2014/main" id="{94B5A950-BD06-42C0-95E0-2C20754D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产品组合、供给约束、渠道、成本也是竞争解释</a:t>
            </a:r>
          </a:p>
        </p:txBody>
      </p:sp>
      <p:sp>
        <p:nvSpPr>
          <p:cNvPr id="6" name="key-2">
            <a:extLst xmlns:a="http://schemas.openxmlformats.org/drawingml/2006/main">
              <a:ext uri="{FF2B5EF4-FFF2-40B4-BE49-F238E27FC236}">
                <a16:creationId xmlns:a16="http://schemas.microsoft.com/office/drawing/2014/main" id="{D10C7FDA-D79E-4F46-9D19-E182E4E5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当前成交、终端动销与独有壁垒决定能否升级判断</a:t>
            </a:r>
          </a:p>
        </p:txBody>
      </p:sp>
      <p:sp>
        <p:nvSpPr>
          <p:cNvPr id="7" name="node-0">
            <a:extLst xmlns:a="http://schemas.openxmlformats.org/drawingml/2006/main">
              <a:ext uri="{FF2B5EF4-FFF2-40B4-BE49-F238E27FC236}">
                <a16:creationId xmlns:a16="http://schemas.microsoft.com/office/drawing/2014/main" id="{8A3EF2AC-B93F-467F-9033-81451C6C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81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品牌候选解释</a:t>
            </a:r>
          </a:p>
        </p:txBody>
      </p:sp>
      <p:sp>
        <p:nvSpPr>
          <p:cNvPr id="8" name="node-note-0">
            <a:extLst xmlns:a="http://schemas.openxmlformats.org/drawingml/2006/main">
              <a:ext uri="{FF2B5EF4-FFF2-40B4-BE49-F238E27FC236}">
                <a16:creationId xmlns:a16="http://schemas.microsoft.com/office/drawing/2014/main" id="{748D301E-4493-407E-ACEC-F5C9F8CA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81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识别与信任可能帮助支付意愿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48803-C57D-4995-BE22-3E9175AD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62250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CEC4"/>
            </a:solidFill>
          </a:ln>
        </p:spPr>
      </p:sp>
      <p:sp>
        <p:nvSpPr>
          <p:cNvPr id="10" name="node-1">
            <a:extLst xmlns:a="http://schemas.openxmlformats.org/drawingml/2006/main">
              <a:ext uri="{FF2B5EF4-FFF2-40B4-BE49-F238E27FC236}">
                <a16:creationId xmlns:a16="http://schemas.microsoft.com/office/drawing/2014/main" id="{4F58D646-D4AA-4DC3-9462-AA684AE9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337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结果与竞争解释</a:t>
            </a:r>
          </a:p>
        </p:txBody>
      </p:sp>
      <p:sp>
        <p:nvSpPr>
          <p:cNvPr id="11" name="node-note-1">
            <a:extLst xmlns:a="http://schemas.openxmlformats.org/drawingml/2006/main">
              <a:ext uri="{FF2B5EF4-FFF2-40B4-BE49-F238E27FC236}">
                <a16:creationId xmlns:a16="http://schemas.microsoft.com/office/drawing/2014/main" id="{0DA4FBE9-E619-4D99-AA05-8972D649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338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量价毛利，同时比较组合、供给与渠道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F2DC0-0836-4923-8A0E-FA8C596A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714750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CEC4"/>
            </a:solidFill>
          </a:ln>
        </p:spPr>
      </p:sp>
      <p:sp>
        <p:nvSpPr>
          <p:cNvPr id="13" name="node-2">
            <a:extLst xmlns:a="http://schemas.openxmlformats.org/drawingml/2006/main">
              <a:ext uri="{FF2B5EF4-FFF2-40B4-BE49-F238E27FC236}">
                <a16:creationId xmlns:a16="http://schemas.microsoft.com/office/drawing/2014/main" id="{26DB6BC1-FE53-4FF1-B79F-6F22BD45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86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升级判断需要的证据</a:t>
            </a:r>
          </a:p>
        </p:txBody>
      </p:sp>
      <p:sp>
        <p:nvSpPr>
          <p:cNvPr id="14" name="node-note-2">
            <a:extLst xmlns:a="http://schemas.openxmlformats.org/drawingml/2006/main">
              <a:ext uri="{FF2B5EF4-FFF2-40B4-BE49-F238E27FC236}">
                <a16:creationId xmlns:a16="http://schemas.microsoft.com/office/drawing/2014/main" id="{BEEA9B09-8D8B-4524-A248-32CACAD9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86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当前成交、终端与独有壁垒</a:t>
            </a:r>
          </a:p>
        </p:txBody>
      </p:sp>
      <p:sp>
        <p:nvSpPr>
          <p:cNvPr id="15" name="source">
            <a:extLst xmlns:a="http://schemas.openxmlformats.org/drawingml/2006/main">
              <a:ext uri="{FF2B5EF4-FFF2-40B4-BE49-F238E27FC236}">
                <a16:creationId xmlns:a16="http://schemas.microsoft.com/office/drawing/2014/main" id="{47B17CCA-F5BD-4C0E-9D78-41D59E64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来源：本项目年报、当前事实接口、合同与运算底稿；未来情景为研究假设。11 / 18</a:t>
            </a:r>
          </a:p>
        </p:txBody>
      </p:sp>
    </p:spTree>
    <p:extLst>
      <p:ext uri="{BB962C8B-B14F-4D97-AF65-F5344CB8AC3E}">
        <p14:creationId xmlns:p14="http://schemas.microsoft.com/office/powerpoint/2010/main" val="7692223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2756648D-C67A-489F-9F5A-B2BEF695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rPr>
              <a:t>研究综合 / 12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D5B8981-3637-4914-898E-AB67A70B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我的优先判断：先消化，再温和恢复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900EA15C-F864-4D78-90C1-14E795E2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未来一至三年的约束，更可能在销售承接与收益留存。</a:t>
            </a:r>
          </a:p>
        </p:txBody>
      </p:sp>
      <p:sp>
        <p:nvSpPr>
          <p:cNvPr id="4" name="key-0">
            <a:extLst xmlns:a="http://schemas.openxmlformats.org/drawingml/2006/main">
              <a:ext uri="{FF2B5EF4-FFF2-40B4-BE49-F238E27FC236}">
                <a16:creationId xmlns:a16="http://schemas.microsoft.com/office/drawing/2014/main" id="{8DD8F820-C530-481C-BD1A-2B065B30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供给与品牌积累仍有解释价值</a:t>
            </a:r>
          </a:p>
        </p:txBody>
      </p:sp>
      <p:sp>
        <p:nvSpPr>
          <p:cNvPr id="5" name="key-1">
            <a:extLst xmlns:a="http://schemas.openxmlformats.org/drawingml/2006/main">
              <a:ext uri="{FF2B5EF4-FFF2-40B4-BE49-F238E27FC236}">
                <a16:creationId xmlns:a16="http://schemas.microsoft.com/office/drawing/2014/main" id="{114995B7-13BC-4B87-83AF-CBC76E36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2025的量价、成品与费用变化限制了高增长直线外推</a:t>
            </a:r>
          </a:p>
        </p:txBody>
      </p:sp>
      <p:sp>
        <p:nvSpPr>
          <p:cNvPr id="6" name="key-2">
            <a:extLst xmlns:a="http://schemas.openxmlformats.org/drawingml/2006/main">
              <a:ext uri="{FF2B5EF4-FFF2-40B4-BE49-F238E27FC236}">
                <a16:creationId xmlns:a16="http://schemas.microsoft.com/office/drawing/2014/main" id="{DF05A93B-4477-4BAB-B56C-3136D0F0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只有量价、库存和效率共同改善，才更有理由上修</a:t>
            </a:r>
          </a:p>
        </p:txBody>
      </p:sp>
      <p:sp>
        <p:nvSpPr>
          <p:cNvPr id="7" name="node-0">
            <a:extLst xmlns:a="http://schemas.openxmlformats.org/drawingml/2006/main">
              <a:ext uri="{FF2B5EF4-FFF2-40B4-BE49-F238E27FC236}">
                <a16:creationId xmlns:a16="http://schemas.microsoft.com/office/drawing/2014/main" id="{0FAF78DA-9EA9-45ED-96AA-F1A36E87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81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供给形成</a:t>
            </a:r>
          </a:p>
        </p:txBody>
      </p:sp>
      <p:sp>
        <p:nvSpPr>
          <p:cNvPr id="8" name="node-note-0">
            <a:extLst xmlns:a="http://schemas.openxmlformats.org/drawingml/2006/main">
              <a:ext uri="{FF2B5EF4-FFF2-40B4-BE49-F238E27FC236}">
                <a16:creationId xmlns:a16="http://schemas.microsoft.com/office/drawing/2014/main" id="{976FB116-22C5-4B17-B51E-0B5B14B0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81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时间与库存提供交付安排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B4544-FB82-4057-9630-95EA2A00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62250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CEC4"/>
            </a:solidFill>
          </a:ln>
        </p:spPr>
      </p:sp>
      <p:sp>
        <p:nvSpPr>
          <p:cNvPr id="10" name="node-1">
            <a:extLst xmlns:a="http://schemas.openxmlformats.org/drawingml/2006/main">
              <a:ext uri="{FF2B5EF4-FFF2-40B4-BE49-F238E27FC236}">
                <a16:creationId xmlns:a16="http://schemas.microsoft.com/office/drawing/2014/main" id="{A1F35995-FB8A-4018-9346-7D43DBCB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337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销售承接</a:t>
            </a:r>
          </a:p>
        </p:txBody>
      </p:sp>
      <p:sp>
        <p:nvSpPr>
          <p:cNvPr id="11" name="node-note-1">
            <a:extLst xmlns:a="http://schemas.openxmlformats.org/drawingml/2006/main">
              <a:ext uri="{FF2B5EF4-FFF2-40B4-BE49-F238E27FC236}">
                <a16:creationId xmlns:a16="http://schemas.microsoft.com/office/drawing/2014/main" id="{8EAC6932-A5C5-4627-B1A3-D5996F63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338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量与组合价需协调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37B36-191A-4F2F-A63D-5FD5D480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714750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CEC4"/>
            </a:solidFill>
          </a:ln>
        </p:spPr>
      </p:sp>
      <p:sp>
        <p:nvSpPr>
          <p:cNvPr id="13" name="node-2">
            <a:extLst xmlns:a="http://schemas.openxmlformats.org/drawingml/2006/main">
              <a:ext uri="{FF2B5EF4-FFF2-40B4-BE49-F238E27FC236}">
                <a16:creationId xmlns:a16="http://schemas.microsoft.com/office/drawing/2014/main" id="{F5E30396-A1EB-44E2-8861-8801577D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86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收益留存</a:t>
            </a:r>
          </a:p>
        </p:txBody>
      </p:sp>
      <p:sp>
        <p:nvSpPr>
          <p:cNvPr id="14" name="node-note-2">
            <a:extLst xmlns:a="http://schemas.openxmlformats.org/drawingml/2006/main">
              <a:ext uri="{FF2B5EF4-FFF2-40B4-BE49-F238E27FC236}">
                <a16:creationId xmlns:a16="http://schemas.microsoft.com/office/drawing/2014/main" id="{8B2EC0C7-D3C6-4402-9E9A-56805F4C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86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费用与回款决定兑现程度</a:t>
            </a:r>
          </a:p>
        </p:txBody>
      </p:sp>
      <p:sp>
        <p:nvSpPr>
          <p:cNvPr id="15" name="source">
            <a:extLst xmlns:a="http://schemas.openxmlformats.org/drawingml/2006/main">
              <a:ext uri="{FF2B5EF4-FFF2-40B4-BE49-F238E27FC236}">
                <a16:creationId xmlns:a16="http://schemas.microsoft.com/office/drawing/2014/main" id="{D1ECD2AB-2F7F-480E-A6C9-53E8B1AC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来源：本项目年报、当前事实接口、合同与运算底稿；未来情景为研究假设。12 / 18</a:t>
            </a:r>
          </a:p>
        </p:txBody>
      </p:sp>
    </p:spTree>
    <p:extLst>
      <p:ext uri="{BB962C8B-B14F-4D97-AF65-F5344CB8AC3E}">
        <p14:creationId xmlns:p14="http://schemas.microsoft.com/office/powerpoint/2010/main" val="13755169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37116FB4-44D4-4C14-81C7-78DA4236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rPr>
              <a:t>条件预测 / 13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8D8A803-14DA-4DAC-8375-81FAFB93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把“缓慢消化”翻译成量、价和费用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7CA95B7F-94CF-4F40-8EAE-90ED208A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2026基准：茅台酒量+1%、组合ASP−2%；系列酒量持平、ASP−4%。</a:t>
            </a:r>
          </a:p>
        </p:txBody>
      </p:sp>
      <p:sp>
        <p:nvSpPr>
          <p:cNvPr id="4" name="key-0">
            <a:extLst xmlns:a="http://schemas.openxmlformats.org/drawingml/2006/main">
              <a:ext uri="{FF2B5EF4-FFF2-40B4-BE49-F238E27FC236}">
                <a16:creationId xmlns:a16="http://schemas.microsoft.com/office/drawing/2014/main" id="{53A941F8-7AEF-42D5-8E4C-9467A82F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参数幅度为研究设定，以2025变化方向和尺度作参考</a:t>
            </a:r>
          </a:p>
        </p:txBody>
      </p:sp>
      <p:sp>
        <p:nvSpPr>
          <p:cNvPr id="5" name="key-1">
            <a:extLst xmlns:a="http://schemas.openxmlformats.org/drawingml/2006/main">
              <a:ext uri="{FF2B5EF4-FFF2-40B4-BE49-F238E27FC236}">
                <a16:creationId xmlns:a16="http://schemas.microsoft.com/office/drawing/2014/main" id="{B2775C0C-BDD2-4AD3-AF2B-BD46807A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毛利与销售费用联动，其他未建模损益维持基期假设</a:t>
            </a:r>
          </a:p>
        </p:txBody>
      </p:sp>
      <p:sp>
        <p:nvSpPr>
          <p:cNvPr id="6" name="key-2">
            <a:extLst xmlns:a="http://schemas.openxmlformats.org/drawingml/2006/main">
              <a:ext uri="{FF2B5EF4-FFF2-40B4-BE49-F238E27FC236}">
                <a16:creationId xmlns:a16="http://schemas.microsoft.com/office/drawing/2014/main" id="{34F079E3-8745-41F1-9920-260277A9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60%为增量保留假设；CFO转换率仅作敏感性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F4759-E069-46A1-BE51-4F6229342B39}"/>
              </a:ext>
            </a:extLst>
          </p:cNvPr>
          <p:cNvGraphicFramePr/>
          <p:nvPr/>
        </p:nvGraphicFramePr>
        <p:xfrm>
          <a:off xmlns:a="http://schemas.openxmlformats.org/drawingml/2006/main" x="4762500" y="2476500"/>
          <a:ext xmlns:a="http://schemas.openxmlformats.org/drawingml/2006/main" cx="6858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428750"/>
                <a:gridCol w="1428750"/>
                <a:gridCol w="1524000"/>
              </a:tblGrid>
              <a:tr h="508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2026假设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6D8CD"/>
                      </a:solidFill>
                    </a:lnL>
                    <a:lnR w="9525">
                      <a:solidFill>
                        <a:srgbClr val="C6D8CD"/>
                      </a:solidFill>
                    </a:lnR>
                    <a:lnT w="9525">
                      <a:solidFill>
                        <a:srgbClr val="C6D8CD"/>
                      </a:solidFill>
                    </a:lnT>
                    <a:lnB w="9525">
                      <a:solidFill>
                        <a:srgbClr val="C6D8CD"/>
                      </a:solidFill>
                    </a:lnB>
                    <a:solidFill>
                      <a:srgbClr val="163F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压力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6D8CD"/>
                      </a:solidFill>
                    </a:lnR>
                    <a:lnT w="9525">
                      <a:solidFill>
                        <a:srgbClr val="C6D8CD"/>
                      </a:solidFill>
                    </a:lnT>
                    <a:lnB w="9525">
                      <a:solidFill>
                        <a:srgbClr val="C6D8CD"/>
                      </a:solidFill>
                    </a:lnB>
                    <a:solidFill>
                      <a:srgbClr val="163F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6D8CD"/>
                      </a:solidFill>
                    </a:lnR>
                    <a:lnT w="9525">
                      <a:solidFill>
                        <a:srgbClr val="C6D8CD"/>
                      </a:solidFill>
                    </a:lnT>
                    <a:lnB w="9525">
                      <a:solidFill>
                        <a:srgbClr val="C6D8CD"/>
                      </a:solidFill>
                    </a:lnB>
                    <a:solidFill>
                      <a:srgbClr val="163F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6D8CD"/>
                      </a:solidFill>
                    </a:lnR>
                    <a:lnT w="9525">
                      <a:solidFill>
                        <a:srgbClr val="C6D8CD"/>
                      </a:solidFill>
                    </a:lnT>
                    <a:lnB w="9525">
                      <a:solidFill>
                        <a:srgbClr val="C6D8CD"/>
                      </a:solidFill>
                    </a:lnB>
                    <a:solidFill>
                      <a:srgbClr val="163F4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F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茅台酒量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6D8CD"/>
                      </a:solidFill>
                    </a:lnL>
                    <a:lnR w="9525">
                      <a:solidFill>
                        <a:srgbClr val="C6D8CD"/>
                      </a:solidFill>
                    </a:lnR>
                    <a:lnB w="9525">
                      <a:solidFill>
                        <a:srgbClr val="C6D8CD"/>
                      </a:solidFill>
                    </a:lnB>
                    <a:solidFill>
                      <a:srgbClr val="F7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F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-3.0%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6D8CD"/>
                      </a:solidFill>
                    </a:lnR>
                    <a:lnB w="9525">
                      <a:solidFill>
                        <a:srgbClr val="C6D8CD"/>
                      </a:solidFill>
                    </a:lnB>
                    <a:solidFill>
                      <a:srgbClr val="F7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F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6D8CD"/>
                      </a:solidFill>
                    </a:lnR>
                    <a:lnB w="9525">
                      <a:solidFill>
                        <a:srgbClr val="C6D8CD"/>
                      </a:solidFill>
                    </a:lnB>
                    <a:solidFill>
                      <a:srgbClr val="F7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F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6D8CD"/>
                      </a:solidFill>
                    </a:lnR>
                    <a:lnB w="9525">
                      <a:solidFill>
                        <a:srgbClr val="C6D8CD"/>
                      </a:solidFill>
                    </a:lnB>
                    <a:solidFill>
                      <a:srgbClr val="F7F7F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F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茅台酒ASP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6D8CD"/>
                      </a:solidFill>
                    </a:lnL>
                    <a:lnR w="9525">
                      <a:solidFill>
                        <a:srgbClr val="C6D8CD"/>
                      </a:solidFill>
                    </a:lnR>
                    <a:lnB w="9525">
                      <a:solidFill>
                        <a:srgbClr val="C6D8CD"/>
                      </a:solidFill>
                    </a:lnB>
                    <a:solidFill>
                      <a:srgbClr val="F7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F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-6.0%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6D8CD"/>
                      </a:solidFill>
                    </a:lnR>
                    <a:lnB w="9525">
                      <a:solidFill>
                        <a:srgbClr val="C6D8CD"/>
                      </a:solidFill>
                    </a:lnB>
                    <a:solidFill>
                      <a:srgbClr val="F7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F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6D8CD"/>
                      </a:solidFill>
                    </a:lnR>
                    <a:lnB w="9525">
                      <a:solidFill>
                        <a:srgbClr val="C6D8CD"/>
                      </a:solidFill>
                    </a:lnB>
                    <a:solidFill>
                      <a:srgbClr val="F7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F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6D8CD"/>
                      </a:solidFill>
                    </a:lnR>
                    <a:lnB w="9525">
                      <a:solidFill>
                        <a:srgbClr val="C6D8CD"/>
                      </a:solidFill>
                    </a:lnB>
                    <a:solidFill>
                      <a:srgbClr val="F7F7F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F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系列酒量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6D8CD"/>
                      </a:solidFill>
                    </a:lnL>
                    <a:lnR w="9525">
                      <a:solidFill>
                        <a:srgbClr val="C6D8CD"/>
                      </a:solidFill>
                    </a:lnR>
                    <a:lnB w="9525">
                      <a:solidFill>
                        <a:srgbClr val="C6D8CD"/>
                      </a:solidFill>
                    </a:lnB>
                    <a:solidFill>
                      <a:srgbClr val="F7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F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6D8CD"/>
                      </a:solidFill>
                    </a:lnR>
                    <a:lnB w="9525">
                      <a:solidFill>
                        <a:srgbClr val="C6D8CD"/>
                      </a:solidFill>
                    </a:lnB>
                    <a:solidFill>
                      <a:srgbClr val="F7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F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6D8CD"/>
                      </a:solidFill>
                    </a:lnR>
                    <a:lnB w="9525">
                      <a:solidFill>
                        <a:srgbClr val="C6D8CD"/>
                      </a:solidFill>
                    </a:lnB>
                    <a:solidFill>
                      <a:srgbClr val="F7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F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6D8CD"/>
                      </a:solidFill>
                    </a:lnR>
                    <a:lnB w="9525">
                      <a:solidFill>
                        <a:srgbClr val="C6D8CD"/>
                      </a:solidFill>
                    </a:lnB>
                    <a:solidFill>
                      <a:srgbClr val="F7F7F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F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系列酒ASP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6D8CD"/>
                      </a:solidFill>
                    </a:lnL>
                    <a:lnR w="9525">
                      <a:solidFill>
                        <a:srgbClr val="C6D8CD"/>
                      </a:solidFill>
                    </a:lnR>
                    <a:lnB w="9525">
                      <a:solidFill>
                        <a:srgbClr val="C6D8CD"/>
                      </a:solidFill>
                    </a:lnB>
                    <a:solidFill>
                      <a:srgbClr val="F7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F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-8.0%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6D8CD"/>
                      </a:solidFill>
                    </a:lnR>
                    <a:lnB w="9525">
                      <a:solidFill>
                        <a:srgbClr val="C6D8CD"/>
                      </a:solidFill>
                    </a:lnB>
                    <a:solidFill>
                      <a:srgbClr val="F7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F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6D8CD"/>
                      </a:solidFill>
                    </a:lnR>
                    <a:lnB w="9525">
                      <a:solidFill>
                        <a:srgbClr val="C6D8CD"/>
                      </a:solidFill>
                    </a:lnB>
                    <a:solidFill>
                      <a:srgbClr val="F7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F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6D8CD"/>
                      </a:solidFill>
                    </a:lnR>
                    <a:lnB w="9525">
                      <a:solidFill>
                        <a:srgbClr val="C6D8CD"/>
                      </a:solidFill>
                    </a:lnB>
                    <a:solidFill>
                      <a:srgbClr val="F7F7F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F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销售费用率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6D8CD"/>
                      </a:solidFill>
                    </a:lnL>
                    <a:lnR w="9525">
                      <a:solidFill>
                        <a:srgbClr val="C6D8CD"/>
                      </a:solidFill>
                    </a:lnR>
                    <a:lnB w="9525">
                      <a:solidFill>
                        <a:srgbClr val="C6D8CD"/>
                      </a:solidFill>
                    </a:lnB>
                    <a:solidFill>
                      <a:srgbClr val="F7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F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6D8CD"/>
                      </a:solidFill>
                    </a:lnR>
                    <a:lnB w="9525">
                      <a:solidFill>
                        <a:srgbClr val="C6D8CD"/>
                      </a:solidFill>
                    </a:lnB>
                    <a:solidFill>
                      <a:srgbClr val="F7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F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6D8CD"/>
                      </a:solidFill>
                    </a:lnR>
                    <a:lnB w="9525">
                      <a:solidFill>
                        <a:srgbClr val="C6D8CD"/>
                      </a:solidFill>
                    </a:lnB>
                    <a:solidFill>
                      <a:srgbClr val="F7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F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6D8CD"/>
                      </a:solidFill>
                    </a:lnR>
                    <a:lnB w="9525">
                      <a:solidFill>
                        <a:srgbClr val="C6D8CD"/>
                      </a:solidFill>
                    </a:lnB>
                    <a:solidFill>
                      <a:srgbClr val="F7F7F0"/>
                    </a:solidFill>
                  </a:tcPr>
                </a:tc>
              </a:tr>
            </a:tbl>
          </a:graphicData>
        </a:graphic>
      </p:graphicFrame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FAB16BB6-619E-4142-A7CF-27DE35FF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来源：本项目年报、当前事实接口、合同与运算底稿；未来情景为研究假设。13 / 18</a:t>
            </a:r>
          </a:p>
        </p:txBody>
      </p:sp>
    </p:spTree>
    <p:extLst>
      <p:ext uri="{BB962C8B-B14F-4D97-AF65-F5344CB8AC3E}">
        <p14:creationId xmlns:p14="http://schemas.microsoft.com/office/powerpoint/2010/main" val="2255531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887734C-0797-4170-A98A-D9EAF522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rPr>
              <a:t>2026—2028 / 14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678841-6D21-4716-8739-EDE2B76E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三种未来，代表三种经营条件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F4F68612-AAA7-4C4C-8EE7-C9DC1CD4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基准营业收入：2026约1,664.5亿元，2028约1,768.3亿元。</a:t>
            </a:r>
          </a:p>
        </p:txBody>
      </p:sp>
      <p:sp>
        <p:nvSpPr>
          <p:cNvPr id="4" name="key-0">
            <a:extLst xmlns:a="http://schemas.openxmlformats.org/drawingml/2006/main">
              <a:ext uri="{FF2B5EF4-FFF2-40B4-BE49-F238E27FC236}">
                <a16:creationId xmlns:a16="http://schemas.microsoft.com/office/drawing/2014/main" id="{96964D05-09C2-4946-A9DE-84C5AA46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2026压力营业收入约1,531.1亿元，修复约1,792.6亿元</a:t>
            </a:r>
          </a:p>
        </p:txBody>
      </p:sp>
      <p:sp>
        <p:nvSpPr>
          <p:cNvPr id="5" name="key-1">
            <a:extLst xmlns:a="http://schemas.openxmlformats.org/drawingml/2006/main">
              <a:ext uri="{FF2B5EF4-FFF2-40B4-BE49-F238E27FC236}">
                <a16:creationId xmlns:a16="http://schemas.microsoft.com/office/drawing/2014/main" id="{0E3F942D-61DF-4A4A-AA3A-BD4BA0B2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2026条件合并净利润（亿元）</a:t>
            </a:r>
          </a:p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压力749.0 / 基准833.6</a:t>
            </a:r>
          </a:p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修复911.7</a:t>
            </a:r>
          </a:p>
        </p:txBody>
      </p:sp>
      <p:sp>
        <p:nvSpPr>
          <p:cNvPr id="6" name="key-2">
            <a:extLst xmlns:a="http://schemas.openxmlformats.org/drawingml/2006/main">
              <a:ext uri="{FF2B5EF4-FFF2-40B4-BE49-F238E27FC236}">
                <a16:creationId xmlns:a16="http://schemas.microsoft.com/office/drawing/2014/main" id="{1C83980E-A272-4207-AFE9-7592BAAE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三条路径没有分配概率，不是置信区间或目标价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CCCF62DA-E00B-4A22-BB41-FE14108C1BE9}"/>
              </a:ext>
            </a:extLst>
          </p:cNvPr>
          <p:cNvGraphicFramePr/>
          <p:nvPr/>
        </p:nvGraphicFramePr>
        <p:xfrm>
          <a:off xmlns:a="http://schemas.openxmlformats.org/drawingml/2006/main" x="4762500" y="2333625"/>
          <a:ext xmlns:a="http://schemas.openxmlformats.org/drawingml/2006/main" cx="6858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21841010a440cd"/>
          </a:graphicData>
        </a:graphic>
      </p:graphicFrame>
      <p:sp>
        <p:nvSpPr>
          <p:cNvPr id="8" name="unit">
            <a:extLst xmlns:a="http://schemas.openxmlformats.org/drawingml/2006/main">
              <a:ext uri="{FF2B5EF4-FFF2-40B4-BE49-F238E27FC236}">
                <a16:creationId xmlns:a16="http://schemas.microsoft.com/office/drawing/2014/main" id="{A5885EAB-8730-41CC-B4C1-FDD27DE2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34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亿元；2026—2028为Forecast，无概率含义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C2A60C8F-D46A-41EF-B838-360C0A74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来源：本项目年报、当前事实接口、合同与运算底稿；未来情景为研究假设。14 / 18</a:t>
            </a:r>
          </a:p>
        </p:txBody>
      </p:sp>
    </p:spTree>
    <p:extLst>
      <p:ext uri="{BB962C8B-B14F-4D97-AF65-F5344CB8AC3E}">
        <p14:creationId xmlns:p14="http://schemas.microsoft.com/office/powerpoint/2010/main" val="2350068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646D3647-97B5-4892-B15C-F56924E4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rPr>
              <a:t>敏感度与改判 / 15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E996524-C6A7-4E34-BEC6-CA66D31D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别只问会涨多少，先问什么会吃掉增长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D490B14A-EA0B-438E-A9BE-C844C872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销量仅增1%时，组合ASP下降超过约0.99%，该组收入就会减少。</a:t>
            </a:r>
          </a:p>
        </p:txBody>
      </p:sp>
      <p:sp>
        <p:nvSpPr>
          <p:cNvPr id="4" name="key-0">
            <a:extLst xmlns:a="http://schemas.openxmlformats.org/drawingml/2006/main">
              <a:ext uri="{FF2B5EF4-FFF2-40B4-BE49-F238E27FC236}">
                <a16:creationId xmlns:a16="http://schemas.microsoft.com/office/drawing/2014/main" id="{42EC094F-DFB9-490D-BA4D-5AEC1B07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2025茅台酒基数上，组合ASP每变1%，约影响14.65亿元收入</a:t>
            </a:r>
          </a:p>
        </p:txBody>
      </p:sp>
      <p:sp>
        <p:nvSpPr>
          <p:cNvPr id="5" name="key-1">
            <a:extLst xmlns:a="http://schemas.openxmlformats.org/drawingml/2006/main">
              <a:ext uri="{FF2B5EF4-FFF2-40B4-BE49-F238E27FC236}">
                <a16:creationId xmlns:a16="http://schemas.microsoft.com/office/drawing/2014/main" id="{50626605-76D8-4DC4-97D6-442D1020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销售费率每提高1个百分点</a:t>
            </a:r>
          </a:p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同基数多支出约16.88亿元</a:t>
            </a:r>
          </a:p>
        </p:txBody>
      </p:sp>
      <p:sp>
        <p:nvSpPr>
          <p:cNvPr id="6" name="key-2">
            <a:extLst xmlns:a="http://schemas.openxmlformats.org/drawingml/2006/main">
              <a:ext uri="{FF2B5EF4-FFF2-40B4-BE49-F238E27FC236}">
                <a16:creationId xmlns:a16="http://schemas.microsoft.com/office/drawing/2014/main" id="{2FE4663A-1D64-4F6A-A1F6-667E3F6C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上修看净价、库存与效率共同恢复；下修看降价加费仍积累成品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12ADC576-FF5F-4F6C-81A4-012F371BFC7B}"/>
              </a:ext>
            </a:extLst>
          </p:cNvPr>
          <p:cNvGraphicFramePr/>
          <p:nvPr/>
        </p:nvGraphicFramePr>
        <p:xfrm>
          <a:off xmlns:a="http://schemas.openxmlformats.org/drawingml/2006/main" x="4762500" y="2333625"/>
          <a:ext xmlns:a="http://schemas.openxmlformats.org/drawingml/2006/main" cx="6858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f4c1de17e84429"/>
          </a:graphicData>
        </a:graphic>
      </p:graphicFrame>
      <p:sp>
        <p:nvSpPr>
          <p:cNvPr id="8" name="unit">
            <a:extLst xmlns:a="http://schemas.openxmlformats.org/drawingml/2006/main">
              <a:ext uri="{FF2B5EF4-FFF2-40B4-BE49-F238E27FC236}">
                <a16:creationId xmlns:a16="http://schemas.microsoft.com/office/drawing/2014/main" id="{BE9AD180-D20E-463B-B7CD-FF809575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34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亿元；其他变量保持不变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0096C1A3-3E11-4E7E-995B-2229B704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来源：本项目年报、当前事实接口、合同与运算底稿；未来情景为研究假设。15 / 18</a:t>
            </a:r>
          </a:p>
        </p:txBody>
      </p:sp>
    </p:spTree>
    <p:extLst>
      <p:ext uri="{BB962C8B-B14F-4D97-AF65-F5344CB8AC3E}">
        <p14:creationId xmlns:p14="http://schemas.microsoft.com/office/powerpoint/2010/main" val="17636638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78A471A6-E245-41DE-A74C-DA74E171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rPr>
              <a:t>系统复用 / 16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76B3A27-5D13-4B52-A83B-10BB41AA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下一家公司，复制问题与方法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D13A2D1A-2EDC-4127-8BAC-75C7C00F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研究起步台、完整技能和行业适配，把入口收拢到一页。</a:t>
            </a:r>
          </a:p>
        </p:txBody>
      </p:sp>
      <p:sp>
        <p:nvSpPr>
          <p:cNvPr id="4" name="key-0">
            <a:extLst xmlns:a="http://schemas.openxmlformats.org/drawingml/2006/main">
              <a:ext uri="{FF2B5EF4-FFF2-40B4-BE49-F238E27FC236}">
                <a16:creationId xmlns:a16="http://schemas.microsoft.com/office/drawing/2014/main" id="{755869A9-6A62-4EB8-BA40-DBD7FC63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定题→证据→分解→解释→预测→复盘</a:t>
            </a:r>
          </a:p>
        </p:txBody>
      </p:sp>
      <p:sp>
        <p:nvSpPr>
          <p:cNvPr id="5" name="key-1">
            <a:extLst xmlns:a="http://schemas.openxmlformats.org/drawingml/2006/main">
              <a:ext uri="{FF2B5EF4-FFF2-40B4-BE49-F238E27FC236}">
                <a16:creationId xmlns:a16="http://schemas.microsoft.com/office/drawing/2014/main" id="{7B020F90-FD75-491D-A5B0-F36571B4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消费用量价渠道；工业用订单交付；订阅用留存；金融用风险资本</a:t>
            </a:r>
          </a:p>
        </p:txBody>
      </p:sp>
      <p:sp>
        <p:nvSpPr>
          <p:cNvPr id="6" name="key-2">
            <a:extLst xmlns:a="http://schemas.openxmlformats.org/drawingml/2006/main">
              <a:ext uri="{FF2B5EF4-FFF2-40B4-BE49-F238E27FC236}">
                <a16:creationId xmlns:a16="http://schemas.microsoft.com/office/drawing/2014/main" id="{C457D226-68F6-4E46-8857-B64B53F8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新建项目带方法与空模板；公司数据、参数与授权独立</a:t>
            </a:r>
          </a:p>
        </p:txBody>
      </p:sp>
      <p:sp>
        <p:nvSpPr>
          <p:cNvPr id="7" name="node-0">
            <a:extLst xmlns:a="http://schemas.openxmlformats.org/drawingml/2006/main">
              <a:ext uri="{FF2B5EF4-FFF2-40B4-BE49-F238E27FC236}">
                <a16:creationId xmlns:a16="http://schemas.microsoft.com/office/drawing/2014/main" id="{281BC9ED-E661-4A18-A918-E25DEDBB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81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定题、证据与分解</a:t>
            </a:r>
          </a:p>
        </p:txBody>
      </p:sp>
      <p:sp>
        <p:nvSpPr>
          <p:cNvPr id="8" name="node-note-0">
            <a:extLst xmlns:a="http://schemas.openxmlformats.org/drawingml/2006/main">
              <a:ext uri="{FF2B5EF4-FFF2-40B4-BE49-F238E27FC236}">
                <a16:creationId xmlns:a16="http://schemas.microsoft.com/office/drawing/2014/main" id="{BF2FF35B-12B2-4323-A4F1-72ABB2B9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81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对象时点、当前来源、变化与矛盾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585C2-D113-4111-ABBB-AB8DE899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62250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CEC4"/>
            </a:solidFill>
          </a:ln>
        </p:spPr>
      </p:sp>
      <p:sp>
        <p:nvSpPr>
          <p:cNvPr id="10" name="node-1">
            <a:extLst xmlns:a="http://schemas.openxmlformats.org/drawingml/2006/main">
              <a:ext uri="{FF2B5EF4-FFF2-40B4-BE49-F238E27FC236}">
                <a16:creationId xmlns:a16="http://schemas.microsoft.com/office/drawing/2014/main" id="{C1C4ED5F-93BE-42FC-82B9-8C0C7DCD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337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机制与条件未来</a:t>
            </a:r>
          </a:p>
        </p:txBody>
      </p:sp>
      <p:sp>
        <p:nvSpPr>
          <p:cNvPr id="11" name="node-note-1">
            <a:extLst xmlns:a="http://schemas.openxmlformats.org/drawingml/2006/main">
              <a:ext uri="{FF2B5EF4-FFF2-40B4-BE49-F238E27FC236}">
                <a16:creationId xmlns:a16="http://schemas.microsoft.com/office/drawing/2014/main" id="{5C1D7A29-FA3B-4219-BC79-A0A516E7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338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优先解释、竞争解释、量价费用参数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6BEA3-B38C-4182-B730-EA78F5D9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714750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CEC4"/>
            </a:solidFill>
          </a:ln>
        </p:spPr>
      </p:sp>
      <p:sp>
        <p:nvSpPr>
          <p:cNvPr id="13" name="node-2">
            <a:extLst xmlns:a="http://schemas.openxmlformats.org/drawingml/2006/main">
              <a:ext uri="{FF2B5EF4-FFF2-40B4-BE49-F238E27FC236}">
                <a16:creationId xmlns:a16="http://schemas.microsoft.com/office/drawing/2014/main" id="{01BC2448-FA29-4C42-9B42-0BE6E092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86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误差复盘与研究接力</a:t>
            </a:r>
          </a:p>
        </p:txBody>
      </p:sp>
      <p:sp>
        <p:nvSpPr>
          <p:cNvPr id="14" name="node-note-2">
            <a:extLst xmlns:a="http://schemas.openxmlformats.org/drawingml/2006/main">
              <a:ext uri="{FF2B5EF4-FFF2-40B4-BE49-F238E27FC236}">
                <a16:creationId xmlns:a16="http://schemas.microsoft.com/office/drawing/2014/main" id="{58B08CB7-7225-4E18-B1EF-392DF393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86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新资料定位驱动，保留真实修正</a:t>
            </a:r>
          </a:p>
        </p:txBody>
      </p:sp>
      <p:sp>
        <p:nvSpPr>
          <p:cNvPr id="15" name="source">
            <a:extLst xmlns:a="http://schemas.openxmlformats.org/drawingml/2006/main">
              <a:ext uri="{FF2B5EF4-FFF2-40B4-BE49-F238E27FC236}">
                <a16:creationId xmlns:a16="http://schemas.microsoft.com/office/drawing/2014/main" id="{00D23425-6482-4342-89D4-CB1C0E06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来源：本项目年报、当前事实接口、合同与运算底稿；未来情景为研究假设。16 / 18</a:t>
            </a:r>
          </a:p>
        </p:txBody>
      </p:sp>
    </p:spTree>
    <p:extLst>
      <p:ext uri="{BB962C8B-B14F-4D97-AF65-F5344CB8AC3E}">
        <p14:creationId xmlns:p14="http://schemas.microsoft.com/office/powerpoint/2010/main" val="3157109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D6B85C19-332F-43C7-9524-A40E5E01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rPr>
              <a:t>经验与改进 / 17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935D630-06FA-4DB3-BD21-DF2D23A0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合作最需要减少的，是重复与混淆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042CF076-6074-4EF1-ABA9-577DCA6D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一次确认一种对象，把人的时间留给真正重要的判断。</a:t>
            </a:r>
          </a:p>
        </p:txBody>
      </p:sp>
      <p:sp>
        <p:nvSpPr>
          <p:cNvPr id="4" name="key-0">
            <a:extLst xmlns:a="http://schemas.openxmlformats.org/drawingml/2006/main">
              <a:ext uri="{FF2B5EF4-FFF2-40B4-BE49-F238E27FC236}">
                <a16:creationId xmlns:a16="http://schemas.microsoft.com/office/drawing/2014/main" id="{77BABF09-ADE4-439A-A10C-CF309DD8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同源同口径批核，保留例外和当前绑定</a:t>
            </a:r>
          </a:p>
        </p:txBody>
      </p:sp>
      <p:sp>
        <p:nvSpPr>
          <p:cNvPr id="5" name="key-1">
            <a:extLst xmlns:a="http://schemas.openxmlformats.org/drawingml/2006/main">
              <a:ext uri="{FF2B5EF4-FFF2-40B4-BE49-F238E27FC236}">
                <a16:creationId xmlns:a16="http://schemas.microsoft.com/office/drawing/2014/main" id="{FDFDD7C8-6C42-4B60-B186-6C66D3CE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正文先讲判断，证据与历史按需展开</a:t>
            </a:r>
          </a:p>
        </p:txBody>
      </p:sp>
      <p:sp>
        <p:nvSpPr>
          <p:cNvPr id="6" name="key-2">
            <a:extLst xmlns:a="http://schemas.openxmlformats.org/drawingml/2006/main">
              <a:ext uri="{FF2B5EF4-FFF2-40B4-BE49-F238E27FC236}">
                <a16:creationId xmlns:a16="http://schemas.microsoft.com/office/drawing/2014/main" id="{38B48AD0-853D-41FA-8759-FDBEA095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新观点、旧认可与正式签署分别维护；用一个稳定入口交接</a:t>
            </a:r>
          </a:p>
        </p:txBody>
      </p:sp>
      <p:sp>
        <p:nvSpPr>
          <p:cNvPr id="7" name="node-0">
            <a:extLst xmlns:a="http://schemas.openxmlformats.org/drawingml/2006/main">
              <a:ext uri="{FF2B5EF4-FFF2-40B4-BE49-F238E27FC236}">
                <a16:creationId xmlns:a16="http://schemas.microsoft.com/office/drawing/2014/main" id="{CFBAFC30-B18C-47ED-B5F0-3D2CBA5C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81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新原数集中核验</a:t>
            </a:r>
          </a:p>
        </p:txBody>
      </p:sp>
      <p:sp>
        <p:nvSpPr>
          <p:cNvPr id="8" name="node-note-0">
            <a:extLst xmlns:a="http://schemas.openxmlformats.org/drawingml/2006/main">
              <a:ext uri="{FF2B5EF4-FFF2-40B4-BE49-F238E27FC236}">
                <a16:creationId xmlns:a16="http://schemas.microsoft.com/office/drawing/2014/main" id="{124FFC62-EA54-410E-9331-B29AB155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81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同源、同口径批次，例外单列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14586-8A3C-459E-A5BB-36D0B7AD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62250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CEC4"/>
            </a:solidFill>
          </a:ln>
        </p:spPr>
      </p:sp>
      <p:sp>
        <p:nvSpPr>
          <p:cNvPr id="10" name="node-1">
            <a:extLst xmlns:a="http://schemas.openxmlformats.org/drawingml/2006/main">
              <a:ext uri="{FF2B5EF4-FFF2-40B4-BE49-F238E27FC236}">
                <a16:creationId xmlns:a16="http://schemas.microsoft.com/office/drawing/2014/main" id="{E64CC47D-02E0-4CD8-8CA9-50EF44F2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337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研究判断集中讨论</a:t>
            </a:r>
          </a:p>
        </p:txBody>
      </p:sp>
      <p:sp>
        <p:nvSpPr>
          <p:cNvPr id="11" name="node-note-1">
            <a:extLst xmlns:a="http://schemas.openxmlformats.org/drawingml/2006/main">
              <a:ext uri="{FF2B5EF4-FFF2-40B4-BE49-F238E27FC236}">
                <a16:creationId xmlns:a16="http://schemas.microsoft.com/office/drawing/2014/main" id="{B5950796-2B5D-4287-8FC9-523E2839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338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展示已完成的分析和可区分证据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9395B-92A2-4693-A3E9-DF0C54FF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714750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CEC4"/>
            </a:solidFill>
          </a:ln>
        </p:spPr>
      </p:sp>
      <p:sp>
        <p:nvSpPr>
          <p:cNvPr id="13" name="node-2">
            <a:extLst xmlns:a="http://schemas.openxmlformats.org/drawingml/2006/main">
              <a:ext uri="{FF2B5EF4-FFF2-40B4-BE49-F238E27FC236}">
                <a16:creationId xmlns:a16="http://schemas.microsoft.com/office/drawing/2014/main" id="{86C0513E-A94A-4162-86AA-51EF5DE3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86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版本与签署分别维护</a:t>
            </a:r>
          </a:p>
        </p:txBody>
      </p:sp>
      <p:sp>
        <p:nvSpPr>
          <p:cNvPr id="14" name="node-note-2">
            <a:extLst xmlns:a="http://schemas.openxmlformats.org/drawingml/2006/main">
              <a:ext uri="{FF2B5EF4-FFF2-40B4-BE49-F238E27FC236}">
                <a16:creationId xmlns:a16="http://schemas.microsoft.com/office/drawing/2014/main" id="{AEC4F0C9-9C39-4158-9C51-E93A88F4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86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旧有效记录复用，新解释另版</a:t>
            </a:r>
          </a:p>
        </p:txBody>
      </p:sp>
      <p:sp>
        <p:nvSpPr>
          <p:cNvPr id="15" name="source">
            <a:extLst xmlns:a="http://schemas.openxmlformats.org/drawingml/2006/main">
              <a:ext uri="{FF2B5EF4-FFF2-40B4-BE49-F238E27FC236}">
                <a16:creationId xmlns:a16="http://schemas.microsoft.com/office/drawing/2014/main" id="{5F6EE53E-C3CA-43E5-8C1F-F46DEDE7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来源：本项目年报、当前事实接口、合同与运算底稿；未来情景为研究假设。17 / 18</a:t>
            </a:r>
          </a:p>
        </p:txBody>
      </p:sp>
    </p:spTree>
    <p:extLst>
      <p:ext uri="{BB962C8B-B14F-4D97-AF65-F5344CB8AC3E}">
        <p14:creationId xmlns:p14="http://schemas.microsoft.com/office/powerpoint/2010/main" val="11668783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B7460701-196C-4633-9EBD-9E364822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847F"/>
                </a:solidFill>
                <a:latin typeface="Microsoft YaHei"/>
                <a:ea typeface="Microsoft YaHei"/>
                <a:cs typeface="Microsoft YaHei"/>
              </a:rPr>
              <a:t>下一轮研究 / 18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361FDFC-C719-4DB3-8B79-D5AF8C67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交付之后，研究继续向哪里走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0ACF2423-4865-43F0-AB45-C0630FAA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把三座最重要的桥补清：销售承接、渠道净贡献、实体现金。</a:t>
            </a:r>
          </a:p>
        </p:txBody>
      </p:sp>
      <p:sp>
        <p:nvSpPr>
          <p:cNvPr id="4" name="key-0">
            <a:extLst xmlns:a="http://schemas.openxmlformats.org/drawingml/2006/main">
              <a:ext uri="{FF2B5EF4-FFF2-40B4-BE49-F238E27FC236}">
                <a16:creationId xmlns:a16="http://schemas.microsoft.com/office/drawing/2014/main" id="{A9DFAC24-0BEB-429F-BBB6-103A3DCB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补库存分龄、成熟量、投放与当前终端成交/动销</a:t>
            </a:r>
          </a:p>
        </p:txBody>
      </p:sp>
      <p:sp>
        <p:nvSpPr>
          <p:cNvPr id="5" name="key-1">
            <a:extLst xmlns:a="http://schemas.openxmlformats.org/drawingml/2006/main">
              <a:ext uri="{FF2B5EF4-FFF2-40B4-BE49-F238E27FC236}">
                <a16:creationId xmlns:a16="http://schemas.microsoft.com/office/drawing/2014/main" id="{94E7ED9F-F4A1-4297-8D95-4ACFD84B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拆其余直销路径、费用、回款与库存责任</a:t>
            </a:r>
          </a:p>
        </p:txBody>
      </p:sp>
      <p:sp>
        <p:nvSpPr>
          <p:cNvPr id="6" name="key-2">
            <a:extLst xmlns:a="http://schemas.openxmlformats.org/drawingml/2006/main">
              <a:ext uri="{FF2B5EF4-FFF2-40B4-BE49-F238E27FC236}">
                <a16:creationId xmlns:a16="http://schemas.microsoft.com/office/drawing/2014/main" id="{E02530CC-433C-4C5E-8807-8D796D57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3886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建立实体/金融现金资本桥，再进入估值与价格隐含预期</a:t>
            </a:r>
          </a:p>
        </p:txBody>
      </p:sp>
      <p:sp>
        <p:nvSpPr>
          <p:cNvPr id="7" name="node-0">
            <a:extLst xmlns:a="http://schemas.openxmlformats.org/drawingml/2006/main">
              <a:ext uri="{FF2B5EF4-FFF2-40B4-BE49-F238E27FC236}">
                <a16:creationId xmlns:a16="http://schemas.microsoft.com/office/drawing/2014/main" id="{CD301AC8-6246-4924-A5A2-291FEF85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81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销售承接的证据桥</a:t>
            </a:r>
          </a:p>
        </p:txBody>
      </p:sp>
      <p:sp>
        <p:nvSpPr>
          <p:cNvPr id="8" name="node-note-0">
            <a:extLst xmlns:a="http://schemas.openxmlformats.org/drawingml/2006/main">
              <a:ext uri="{FF2B5EF4-FFF2-40B4-BE49-F238E27FC236}">
                <a16:creationId xmlns:a16="http://schemas.microsoft.com/office/drawing/2014/main" id="{15A291D7-0743-4131-A122-91016DFC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81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成熟量、分龄、投放与终端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215E3-5ADA-43D7-A427-AC8E89D6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62250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CEC4"/>
            </a:solidFill>
          </a:ln>
        </p:spPr>
      </p:sp>
      <p:sp>
        <p:nvSpPr>
          <p:cNvPr id="10" name="node-1">
            <a:extLst xmlns:a="http://schemas.openxmlformats.org/drawingml/2006/main">
              <a:ext uri="{FF2B5EF4-FFF2-40B4-BE49-F238E27FC236}">
                <a16:creationId xmlns:a16="http://schemas.microsoft.com/office/drawing/2014/main" id="{322E736B-63CA-4ED1-A3D0-77D6B11A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337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渠道责任的证据桥</a:t>
            </a:r>
          </a:p>
        </p:txBody>
      </p:sp>
      <p:sp>
        <p:nvSpPr>
          <p:cNvPr id="11" name="node-note-1">
            <a:extLst xmlns:a="http://schemas.openxmlformats.org/drawingml/2006/main">
              <a:ext uri="{FF2B5EF4-FFF2-40B4-BE49-F238E27FC236}">
                <a16:creationId xmlns:a16="http://schemas.microsoft.com/office/drawing/2014/main" id="{E79B4D55-CCE1-415B-A9A9-8C7DC1B7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338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费用、库存与回款怎样归属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F1071-0AB7-4878-956A-A3BF444C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714750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CEC4"/>
            </a:solidFill>
          </a:ln>
        </p:spPr>
      </p:sp>
      <p:sp>
        <p:nvSpPr>
          <p:cNvPr id="13" name="node-2">
            <a:extLst xmlns:a="http://schemas.openxmlformats.org/drawingml/2006/main">
              <a:ext uri="{FF2B5EF4-FFF2-40B4-BE49-F238E27FC236}">
                <a16:creationId xmlns:a16="http://schemas.microsoft.com/office/drawing/2014/main" id="{F6275698-56D9-45CB-8893-65ABEA24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86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E8C"/>
                </a:solidFill>
                <a:latin typeface="Microsoft YaHei"/>
                <a:ea typeface="Microsoft YaHei"/>
                <a:cs typeface="Microsoft YaHei"/>
              </a:rPr>
              <a:t>实体现金与资本桥</a:t>
            </a:r>
          </a:p>
        </p:txBody>
      </p:sp>
      <p:sp>
        <p:nvSpPr>
          <p:cNvPr id="14" name="node-note-2">
            <a:extLst xmlns:a="http://schemas.openxmlformats.org/drawingml/2006/main">
              <a:ext uri="{FF2B5EF4-FFF2-40B4-BE49-F238E27FC236}">
                <a16:creationId xmlns:a16="http://schemas.microsoft.com/office/drawing/2014/main" id="{72CE0A7E-68A5-45F8-8A79-8A964CF3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86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3F47"/>
                </a:solidFill>
                <a:latin typeface="Microsoft YaHei"/>
                <a:ea typeface="Microsoft YaHei"/>
                <a:cs typeface="Microsoft YaHei"/>
              </a:rPr>
              <a:t>金融抵销、成熟投入与证券估值</a:t>
            </a:r>
          </a:p>
        </p:txBody>
      </p:sp>
      <p:sp>
        <p:nvSpPr>
          <p:cNvPr id="15" name="source">
            <a:extLst xmlns:a="http://schemas.openxmlformats.org/drawingml/2006/main">
              <a:ext uri="{FF2B5EF4-FFF2-40B4-BE49-F238E27FC236}">
                <a16:creationId xmlns:a16="http://schemas.microsoft.com/office/drawing/2014/main" id="{D7DB825E-1106-4376-9D80-D7389B93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C7D"/>
                </a:solidFill>
                <a:latin typeface="Microsoft YaHei"/>
                <a:ea typeface="Microsoft YaHei"/>
                <a:cs typeface="Microsoft YaHei"/>
              </a:rPr>
              <a:t>来源：本项目年报、当前事实接口、合同与运算底稿；未来情景为研究假设。18 / 18</a:t>
            </a:r>
          </a:p>
        </p:txBody>
      </p:sp>
    </p:spTree>
    <p:extLst>
      <p:ext uri="{BB962C8B-B14F-4D97-AF65-F5344CB8AC3E}">
        <p14:creationId xmlns:p14="http://schemas.microsoft.com/office/powerpoint/2010/main" val="20383081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2026-10-25T13:03:00.8530000Z</dcterms:created>
  <dcterms:modified xsi:type="dcterms:W3CDTF">2026-10-25T13:03:00.8530000Z</dcterms:modified>
</coreProperties>
</file>